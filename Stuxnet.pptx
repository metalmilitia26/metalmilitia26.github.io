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17"/>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091" autoAdjust="0"/>
  </p:normalViewPr>
  <p:slideViewPr>
    <p:cSldViewPr snapToGrid="0">
      <p:cViewPr varScale="1">
        <p:scale>
          <a:sx n="95" d="100"/>
          <a:sy n="95" d="100"/>
        </p:scale>
        <p:origin x="2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C245DD-DFB5-4C1E-966B-17F2010A6EAD}" type="datetimeFigureOut">
              <a:rPr lang="en-US" smtClean="0"/>
              <a:t>2/23/2025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5299D1-AC5B-44B3-8CBA-C3F11AA4B984}" type="slidenum">
              <a:rPr lang="en-US" smtClean="0"/>
              <a:t>‹#›</a:t>
            </a:fld>
            <a:endParaRPr lang="en-US"/>
          </a:p>
        </p:txBody>
      </p:sp>
    </p:spTree>
    <p:extLst>
      <p:ext uri="{BB962C8B-B14F-4D97-AF65-F5344CB8AC3E}">
        <p14:creationId xmlns:p14="http://schemas.microsoft.com/office/powerpoint/2010/main" val="2703986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Natanz Uranium Enrichment Complex. Iran. Located in Natanz County, Isfahan Province</a:t>
            </a:r>
          </a:p>
        </p:txBody>
      </p:sp>
      <p:sp>
        <p:nvSpPr>
          <p:cNvPr id="4" name="Slide Number Placeholder 3"/>
          <p:cNvSpPr>
            <a:spLocks noGrp="1"/>
          </p:cNvSpPr>
          <p:nvPr>
            <p:ph type="sldNum" sz="quarter" idx="5"/>
          </p:nvPr>
        </p:nvSpPr>
        <p:spPr/>
        <p:txBody>
          <a:bodyPr/>
          <a:lstStyle/>
          <a:p>
            <a:fld id="{044996F6-5BB0-4E87-A457-F3661A1D15FC}" type="slidenum">
              <a:rPr lang="en-US" smtClean="0"/>
              <a:t>1</a:t>
            </a:fld>
            <a:endParaRPr lang="en-US"/>
          </a:p>
        </p:txBody>
      </p:sp>
    </p:spTree>
    <p:extLst>
      <p:ext uri="{BB962C8B-B14F-4D97-AF65-F5344CB8AC3E}">
        <p14:creationId xmlns:p14="http://schemas.microsoft.com/office/powerpoint/2010/main" val="3590834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The Stuxnet attack aimed not at total destruction but at strategic disruption. By delaying Iran's uranium enrichment, the attackers hoped to buy time for diplomatic solutions. This cyber weapon set a historical precedent as the first known malware to cause real-world physical damage to industrial infrastructure.</a:t>
            </a:r>
            <a:br>
              <a:rPr lang="en-US" dirty="0"/>
            </a:br>
            <a:br>
              <a:rPr lang="en-US" dirty="0"/>
            </a:br>
            <a:r>
              <a:rPr lang="en-US" dirty="0"/>
              <a:t>- The picture is a surveillance photograph of the Natanz Nuclear Facility</a:t>
            </a:r>
          </a:p>
        </p:txBody>
      </p:sp>
      <p:sp>
        <p:nvSpPr>
          <p:cNvPr id="4" name="Slide Number Placeholder 3"/>
          <p:cNvSpPr>
            <a:spLocks noGrp="1"/>
          </p:cNvSpPr>
          <p:nvPr>
            <p:ph type="sldNum" sz="quarter" idx="5"/>
          </p:nvPr>
        </p:nvSpPr>
        <p:spPr/>
        <p:txBody>
          <a:bodyPr/>
          <a:lstStyle/>
          <a:p>
            <a:fld id="{044996F6-5BB0-4E87-A457-F3661A1D15FC}" type="slidenum">
              <a:rPr lang="en-US" smtClean="0"/>
              <a:t>2</a:t>
            </a:fld>
            <a:endParaRPr lang="en-US"/>
          </a:p>
        </p:txBody>
      </p:sp>
    </p:spTree>
    <p:extLst>
      <p:ext uri="{BB962C8B-B14F-4D97-AF65-F5344CB8AC3E}">
        <p14:creationId xmlns:p14="http://schemas.microsoft.com/office/powerpoint/2010/main" val="872319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While early reports speculated that the Bushehr power plant was the main target, investigations revealed that Natanz, Iran’s primary uranium enrichment facility, was the actual focus. The infection of personal computers at Bushehr was likely collateral damage, showcasing how malware can unintentionally spread. Natanz’s critical role in Iran’s nuclear program made it the ideal target for the Stuxnet worm.</a:t>
            </a:r>
            <a:br>
              <a:rPr lang="en-US" dirty="0"/>
            </a:br>
            <a:endParaRPr lang="en-US" dirty="0"/>
          </a:p>
          <a:p>
            <a:pPr marL="171450" indent="-171450">
              <a:buFontTx/>
              <a:buChar char="-"/>
            </a:pPr>
            <a:r>
              <a:rPr lang="en-US" dirty="0"/>
              <a:t>As of today, the only facility in all of Iran that is technically allowed to continue enrichment operation is Natanz, although future plans of expansion are unknown. </a:t>
            </a:r>
          </a:p>
        </p:txBody>
      </p:sp>
      <p:sp>
        <p:nvSpPr>
          <p:cNvPr id="4" name="Slide Number Placeholder 3"/>
          <p:cNvSpPr>
            <a:spLocks noGrp="1"/>
          </p:cNvSpPr>
          <p:nvPr>
            <p:ph type="sldNum" sz="quarter" idx="5"/>
          </p:nvPr>
        </p:nvSpPr>
        <p:spPr/>
        <p:txBody>
          <a:bodyPr/>
          <a:lstStyle/>
          <a:p>
            <a:fld id="{044996F6-5BB0-4E87-A457-F3661A1D15FC}" type="slidenum">
              <a:rPr lang="en-US" smtClean="0"/>
              <a:t>3</a:t>
            </a:fld>
            <a:endParaRPr lang="en-US"/>
          </a:p>
        </p:txBody>
      </p:sp>
    </p:spTree>
    <p:extLst>
      <p:ext uri="{BB962C8B-B14F-4D97-AF65-F5344CB8AC3E}">
        <p14:creationId xmlns:p14="http://schemas.microsoft.com/office/powerpoint/2010/main" val="1632964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Picture is sample code from the actual worm. </a:t>
            </a:r>
          </a:p>
          <a:p>
            <a:pPr marL="171450" indent="-171450">
              <a:buFontTx/>
              <a:buChar cha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Stuxnet was revolutionary because it demonstrated how cyberattacks could cause physical destruction. By targeting SCADA systems that controlled the centrifuges at Natanz, it exposed vulnerabilities in critical infrastructure that could be exploited in future conflicts.</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044996F6-5BB0-4E87-A457-F3661A1D15FC}" type="slidenum">
              <a:rPr lang="en-US" smtClean="0"/>
              <a:t>4</a:t>
            </a:fld>
            <a:endParaRPr lang="en-US"/>
          </a:p>
        </p:txBody>
      </p:sp>
    </p:spTree>
    <p:extLst>
      <p:ext uri="{BB962C8B-B14F-4D97-AF65-F5344CB8AC3E}">
        <p14:creationId xmlns:p14="http://schemas.microsoft.com/office/powerpoint/2010/main" val="3007399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 Programmable Logic Controllers work by allowing automation of electronic and mechanical processes. </a:t>
            </a:r>
          </a:p>
          <a:p>
            <a:pPr marL="0" indent="0">
              <a:buFontTx/>
              <a:buNone/>
            </a:pPr>
            <a:br>
              <a:rPr lang="en-US" dirty="0"/>
            </a:br>
            <a:r>
              <a:rPr lang="en-US" dirty="0"/>
              <a:t>-  Stuxnet’s complexity came from its use of four zero-day vulnerabilities, making it nearly impossible to detect before it was too late. Its stealthy approach allowed it to manipulate the centrifuges while feeding normal data back to operators, leaving no immediate signs of sabotage.</a:t>
            </a:r>
          </a:p>
          <a:p>
            <a:pPr marL="0" indent="0">
              <a:buFontTx/>
              <a:buNone/>
            </a:pPr>
            <a:endParaRPr lang="en-US" dirty="0"/>
          </a:p>
          <a:p>
            <a:r>
              <a:rPr lang="en-US" dirty="0"/>
              <a:t>- Zero day flaws are issues with software, hardware and firmware that are not immediately apparent upon release. This means that there can be a length of time before a fix is implemented. </a:t>
            </a:r>
          </a:p>
          <a:p>
            <a:endParaRPr lang="en-US" dirty="0"/>
          </a:p>
          <a:p>
            <a:r>
              <a:rPr lang="en-US" dirty="0"/>
              <a:t>- The worm was just a half megabyte in size!</a:t>
            </a:r>
          </a:p>
        </p:txBody>
      </p:sp>
      <p:sp>
        <p:nvSpPr>
          <p:cNvPr id="4" name="Slide Number Placeholder 3"/>
          <p:cNvSpPr>
            <a:spLocks noGrp="1"/>
          </p:cNvSpPr>
          <p:nvPr>
            <p:ph type="sldNum" sz="quarter" idx="5"/>
          </p:nvPr>
        </p:nvSpPr>
        <p:spPr/>
        <p:txBody>
          <a:bodyPr/>
          <a:lstStyle/>
          <a:p>
            <a:fld id="{044996F6-5BB0-4E87-A457-F3661A1D15FC}" type="slidenum">
              <a:rPr lang="en-US" smtClean="0"/>
              <a:t>5</a:t>
            </a:fld>
            <a:endParaRPr lang="en-US"/>
          </a:p>
        </p:txBody>
      </p:sp>
    </p:spTree>
    <p:extLst>
      <p:ext uri="{BB962C8B-B14F-4D97-AF65-F5344CB8AC3E}">
        <p14:creationId xmlns:p14="http://schemas.microsoft.com/office/powerpoint/2010/main" val="2714989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Operation Olympic Games is a covert and still fairly denied sabotage campaign that was directed at Iran. </a:t>
            </a:r>
          </a:p>
          <a:p>
            <a:r>
              <a:rPr lang="en-US" dirty="0"/>
              <a:t>It is significant because it signifies the first known use of a cyber super weapon. A successful one at that. </a:t>
            </a:r>
          </a:p>
          <a:p>
            <a:endParaRPr lang="en-US" dirty="0"/>
          </a:p>
          <a:p>
            <a:r>
              <a:rPr lang="en-US" dirty="0"/>
              <a:t>- The operation, code-named </a:t>
            </a:r>
            <a:r>
              <a:rPr lang="en-US" i="1" dirty="0"/>
              <a:t>“Operation Olympic Games,”</a:t>
            </a:r>
            <a:r>
              <a:rPr lang="en-US" dirty="0"/>
              <a:t> reportedly began under President George W. Bush and was continued under President Barack Obama (</a:t>
            </a:r>
            <a:r>
              <a:rPr lang="en-US" dirty="0" err="1"/>
              <a:t>Zetter</a:t>
            </a:r>
            <a:r>
              <a:rPr lang="en-US" dirty="0"/>
              <a:t>, 2015). </a:t>
            </a:r>
          </a:p>
        </p:txBody>
      </p:sp>
      <p:sp>
        <p:nvSpPr>
          <p:cNvPr id="4" name="Slide Number Placeholder 3"/>
          <p:cNvSpPr>
            <a:spLocks noGrp="1"/>
          </p:cNvSpPr>
          <p:nvPr>
            <p:ph type="sldNum" sz="quarter" idx="5"/>
          </p:nvPr>
        </p:nvSpPr>
        <p:spPr/>
        <p:txBody>
          <a:bodyPr/>
          <a:lstStyle/>
          <a:p>
            <a:fld id="{044996F6-5BB0-4E87-A457-F3661A1D15FC}" type="slidenum">
              <a:rPr lang="en-US" smtClean="0"/>
              <a:t>6</a:t>
            </a:fld>
            <a:endParaRPr lang="en-US"/>
          </a:p>
        </p:txBody>
      </p:sp>
    </p:spTree>
    <p:extLst>
      <p:ext uri="{BB962C8B-B14F-4D97-AF65-F5344CB8AC3E}">
        <p14:creationId xmlns:p14="http://schemas.microsoft.com/office/powerpoint/2010/main" val="30639439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Nuclear Proliferation is the spread of nuclear weapons, fissionable material and weapons grade building materials.</a:t>
            </a:r>
          </a:p>
          <a:p>
            <a:endParaRPr lang="en-US" dirty="0"/>
          </a:p>
        </p:txBody>
      </p:sp>
      <p:sp>
        <p:nvSpPr>
          <p:cNvPr id="4" name="Slide Number Placeholder 3"/>
          <p:cNvSpPr>
            <a:spLocks noGrp="1"/>
          </p:cNvSpPr>
          <p:nvPr>
            <p:ph type="sldNum" sz="quarter" idx="5"/>
          </p:nvPr>
        </p:nvSpPr>
        <p:spPr/>
        <p:txBody>
          <a:bodyPr/>
          <a:lstStyle/>
          <a:p>
            <a:fld id="{044996F6-5BB0-4E87-A457-F3661A1D15FC}" type="slidenum">
              <a:rPr lang="en-US" smtClean="0"/>
              <a:t>7</a:t>
            </a:fld>
            <a:endParaRPr lang="en-US"/>
          </a:p>
        </p:txBody>
      </p:sp>
    </p:spTree>
    <p:extLst>
      <p:ext uri="{BB962C8B-B14F-4D97-AF65-F5344CB8AC3E}">
        <p14:creationId xmlns:p14="http://schemas.microsoft.com/office/powerpoint/2010/main" val="93993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actual time has not been established clearly. There were on going investigations of when certain personal computers were hit but not exact dates of when the enrichment facilities started noticing something was wrong. </a:t>
            </a:r>
          </a:p>
        </p:txBody>
      </p:sp>
      <p:sp>
        <p:nvSpPr>
          <p:cNvPr id="4" name="Slide Number Placeholder 3"/>
          <p:cNvSpPr>
            <a:spLocks noGrp="1"/>
          </p:cNvSpPr>
          <p:nvPr>
            <p:ph type="sldNum" sz="quarter" idx="5"/>
          </p:nvPr>
        </p:nvSpPr>
        <p:spPr/>
        <p:txBody>
          <a:bodyPr/>
          <a:lstStyle/>
          <a:p>
            <a:fld id="{044996F6-5BB0-4E87-A457-F3661A1D15FC}" type="slidenum">
              <a:rPr lang="en-US" smtClean="0"/>
              <a:t>8</a:t>
            </a:fld>
            <a:endParaRPr lang="en-US"/>
          </a:p>
        </p:txBody>
      </p:sp>
    </p:spTree>
    <p:extLst>
      <p:ext uri="{BB962C8B-B14F-4D97-AF65-F5344CB8AC3E}">
        <p14:creationId xmlns:p14="http://schemas.microsoft.com/office/powerpoint/2010/main" val="1509763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Air Gap means that a system has no connection to the external internet. It operates on its own network. Generally speaking, there is a physical gap in the network. </a:t>
            </a:r>
          </a:p>
          <a:p>
            <a:endParaRPr lang="en-US" dirty="0"/>
          </a:p>
          <a:p>
            <a:r>
              <a:rPr lang="en-US" dirty="0"/>
              <a:t>- It is believed that an insider—whether knowingly or unknowingly—introduced the infected USB into the network. Once inside, Stuxnet used a man-in-the-middle attack to intercept and modify data sent between the centrifuges and the control systems, masking the malicious actions while physically damaging equipment.</a:t>
            </a:r>
          </a:p>
        </p:txBody>
      </p:sp>
      <p:sp>
        <p:nvSpPr>
          <p:cNvPr id="4" name="Slide Number Placeholder 3"/>
          <p:cNvSpPr>
            <a:spLocks noGrp="1"/>
          </p:cNvSpPr>
          <p:nvPr>
            <p:ph type="sldNum" sz="quarter" idx="5"/>
          </p:nvPr>
        </p:nvSpPr>
        <p:spPr/>
        <p:txBody>
          <a:bodyPr/>
          <a:lstStyle/>
          <a:p>
            <a:fld id="{044996F6-5BB0-4E87-A457-F3661A1D15FC}" type="slidenum">
              <a:rPr lang="en-US" smtClean="0"/>
              <a:t>9</a:t>
            </a:fld>
            <a:endParaRPr lang="en-US"/>
          </a:p>
        </p:txBody>
      </p:sp>
    </p:spTree>
    <p:extLst>
      <p:ext uri="{BB962C8B-B14F-4D97-AF65-F5344CB8AC3E}">
        <p14:creationId xmlns:p14="http://schemas.microsoft.com/office/powerpoint/2010/main" val="453594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Man in the middle attack is an attack in which a threat actor positions himself in the middle of a conversation, usually between a user and a program or application. Their mission is to either listen in for information or become an imposter in order to trick the user into giving up sensitive data.</a:t>
            </a:r>
          </a:p>
          <a:p>
            <a:endParaRPr lang="en-US" dirty="0"/>
          </a:p>
          <a:p>
            <a:r>
              <a:rPr lang="en-US" dirty="0"/>
              <a:t>- The brilliance of Stuxnet lay in its subtlety. By varying the speed of the centrifuges in a controlled but destructive manner, it caused gradual damage without triggering immediate alarms. Meanwhile, the control system displayed normal readings to operators, preventing any quick diagnosis of the real issue. This delayed Iran’s ability to detect the sabotage, extending the effectiveness of the attack.</a:t>
            </a:r>
          </a:p>
        </p:txBody>
      </p:sp>
      <p:sp>
        <p:nvSpPr>
          <p:cNvPr id="4" name="Slide Number Placeholder 3"/>
          <p:cNvSpPr>
            <a:spLocks noGrp="1"/>
          </p:cNvSpPr>
          <p:nvPr>
            <p:ph type="sldNum" sz="quarter" idx="5"/>
          </p:nvPr>
        </p:nvSpPr>
        <p:spPr/>
        <p:txBody>
          <a:bodyPr/>
          <a:lstStyle/>
          <a:p>
            <a:fld id="{044996F6-5BB0-4E87-A457-F3661A1D15FC}" type="slidenum">
              <a:rPr lang="en-US" smtClean="0"/>
              <a:t>10</a:t>
            </a:fld>
            <a:endParaRPr lang="en-US"/>
          </a:p>
        </p:txBody>
      </p:sp>
    </p:spTree>
    <p:extLst>
      <p:ext uri="{BB962C8B-B14F-4D97-AF65-F5344CB8AC3E}">
        <p14:creationId xmlns:p14="http://schemas.microsoft.com/office/powerpoint/2010/main" val="923390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Flame, </a:t>
            </a:r>
            <a:r>
              <a:rPr lang="en-US" dirty="0" err="1"/>
              <a:t>Duqu</a:t>
            </a:r>
            <a:r>
              <a:rPr lang="en-US" dirty="0"/>
              <a:t> and Triton are thought to be related to Stuxnet and have been encountered in the real world already.</a:t>
            </a:r>
          </a:p>
          <a:p>
            <a:endParaRPr lang="en-US" dirty="0"/>
          </a:p>
          <a:p>
            <a:r>
              <a:rPr lang="en-US" dirty="0"/>
              <a:t>- Though designed to be contained, Stuxnet’s complexity led to unintended consequences. It spread when an infected USB or laptop left the Natanz facility and connected to an outside network. This accidental release allowed cybersecurity experts to capture, study, and dissect the worm. Its release into the public domain marked a turning point in cyber warfare, as its code became available for analysis, leading to the evolution of similar, more aggressive malware strains.</a:t>
            </a:r>
          </a:p>
          <a:p>
            <a:endParaRPr lang="en-US" dirty="0"/>
          </a:p>
        </p:txBody>
      </p:sp>
      <p:sp>
        <p:nvSpPr>
          <p:cNvPr id="4" name="Slide Number Placeholder 3"/>
          <p:cNvSpPr>
            <a:spLocks noGrp="1"/>
          </p:cNvSpPr>
          <p:nvPr>
            <p:ph type="sldNum" sz="quarter" idx="5"/>
          </p:nvPr>
        </p:nvSpPr>
        <p:spPr/>
        <p:txBody>
          <a:bodyPr/>
          <a:lstStyle/>
          <a:p>
            <a:fld id="{044996F6-5BB0-4E87-A457-F3661A1D15FC}" type="slidenum">
              <a:rPr lang="en-US" smtClean="0"/>
              <a:t>11</a:t>
            </a:fld>
            <a:endParaRPr lang="en-US"/>
          </a:p>
        </p:txBody>
      </p:sp>
    </p:spTree>
    <p:extLst>
      <p:ext uri="{BB962C8B-B14F-4D97-AF65-F5344CB8AC3E}">
        <p14:creationId xmlns:p14="http://schemas.microsoft.com/office/powerpoint/2010/main" val="3872365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Iran’s response was twofold: improving its defensive cybersecurity capabilities and potentially developing its own offensive strategies. The incident deepened tensions with the United States and Israel and sparked debates about the ethical use of cyber weapons. Many nations viewed Stuxnet as a wake-up call, realizing that industrial systems worldwide could be vulnerable to similar attacks.</a:t>
            </a:r>
          </a:p>
          <a:p>
            <a:endParaRPr lang="en-US" dirty="0"/>
          </a:p>
        </p:txBody>
      </p:sp>
      <p:sp>
        <p:nvSpPr>
          <p:cNvPr id="4" name="Slide Number Placeholder 3"/>
          <p:cNvSpPr>
            <a:spLocks noGrp="1"/>
          </p:cNvSpPr>
          <p:nvPr>
            <p:ph type="sldNum" sz="quarter" idx="5"/>
          </p:nvPr>
        </p:nvSpPr>
        <p:spPr/>
        <p:txBody>
          <a:bodyPr/>
          <a:lstStyle/>
          <a:p>
            <a:fld id="{044996F6-5BB0-4E87-A457-F3661A1D15FC}" type="slidenum">
              <a:rPr lang="en-US" smtClean="0"/>
              <a:t>12</a:t>
            </a:fld>
            <a:endParaRPr lang="en-US"/>
          </a:p>
        </p:txBody>
      </p:sp>
    </p:spTree>
    <p:extLst>
      <p:ext uri="{BB962C8B-B14F-4D97-AF65-F5344CB8AC3E}">
        <p14:creationId xmlns:p14="http://schemas.microsoft.com/office/powerpoint/2010/main" val="18366924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Stuxnet’s legacy lives on in modern cybersecurity. It serves as a case study in both the power and risks of cyber weapons. </a:t>
            </a:r>
          </a:p>
          <a:p>
            <a:endParaRPr lang="en-US" dirty="0"/>
          </a:p>
          <a:p>
            <a:r>
              <a:rPr lang="en-US" dirty="0"/>
              <a:t>- While it achieved its intended goal, the unintended consequences remind us that cyber warfare can have far-reaching effects. As technology evolves, so too must the strategies to protect critical infrastructure from similar threats.</a:t>
            </a:r>
          </a:p>
        </p:txBody>
      </p:sp>
      <p:sp>
        <p:nvSpPr>
          <p:cNvPr id="4" name="Slide Number Placeholder 3"/>
          <p:cNvSpPr>
            <a:spLocks noGrp="1"/>
          </p:cNvSpPr>
          <p:nvPr>
            <p:ph type="sldNum" sz="quarter" idx="5"/>
          </p:nvPr>
        </p:nvSpPr>
        <p:spPr/>
        <p:txBody>
          <a:bodyPr/>
          <a:lstStyle/>
          <a:p>
            <a:fld id="{044996F6-5BB0-4E87-A457-F3661A1D15FC}" type="slidenum">
              <a:rPr lang="en-US" smtClean="0"/>
              <a:t>13</a:t>
            </a:fld>
            <a:endParaRPr lang="en-US"/>
          </a:p>
        </p:txBody>
      </p:sp>
    </p:spTree>
    <p:extLst>
      <p:ext uri="{BB962C8B-B14F-4D97-AF65-F5344CB8AC3E}">
        <p14:creationId xmlns:p14="http://schemas.microsoft.com/office/powerpoint/2010/main" val="41367696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F9275-AA6C-40C5-B6E8-6ED5F707A5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8FBDB5-CE89-496D-871B-601C9E5F63DC}"/>
              </a:ext>
            </a:extLst>
          </p:cNvPr>
          <p:cNvSpPr>
            <a:spLocks noGrp="1"/>
          </p:cNvSpPr>
          <p:nvPr>
            <p:ph type="dt" sz="half" idx="10"/>
          </p:nvPr>
        </p:nvSpPr>
        <p:spPr/>
        <p:txBody>
          <a:bodyPr/>
          <a:lstStyle/>
          <a:p>
            <a:fld id="{B07899AA-6FBA-4737-B78B-630CB653766D}" type="datetimeFigureOut">
              <a:rPr lang="en-US" smtClean="0"/>
              <a:t>2/23/2025</a:t>
            </a:fld>
            <a:endParaRPr lang="en-US"/>
          </a:p>
        </p:txBody>
      </p:sp>
      <p:sp>
        <p:nvSpPr>
          <p:cNvPr id="4" name="Footer Placeholder 3">
            <a:extLst>
              <a:ext uri="{FF2B5EF4-FFF2-40B4-BE49-F238E27FC236}">
                <a16:creationId xmlns:a16="http://schemas.microsoft.com/office/drawing/2014/main" id="{CD8FA59A-D345-477F-8134-E1B3C1DC30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677853-9746-489C-B803-C98901734A7E}"/>
              </a:ext>
            </a:extLst>
          </p:cNvPr>
          <p:cNvSpPr>
            <a:spLocks noGrp="1"/>
          </p:cNvSpPr>
          <p:nvPr>
            <p:ph type="sldNum" sz="quarter" idx="12"/>
          </p:nvPr>
        </p:nvSpPr>
        <p:spPr/>
        <p:txBody>
          <a:bodyPr/>
          <a:lstStyle/>
          <a:p>
            <a:fld id="{6508C229-0285-4493-8903-0921C205DE7B}" type="slidenum">
              <a:rPr lang="en-US" smtClean="0"/>
              <a:t>‹#›</a:t>
            </a:fld>
            <a:endParaRPr lang="en-US"/>
          </a:p>
        </p:txBody>
      </p:sp>
    </p:spTree>
    <p:extLst>
      <p:ext uri="{BB962C8B-B14F-4D97-AF65-F5344CB8AC3E}">
        <p14:creationId xmlns:p14="http://schemas.microsoft.com/office/powerpoint/2010/main" val="469015010"/>
      </p:ext>
    </p:extLst>
  </p:cSld>
  <p:clrMapOvr>
    <a:masterClrMapping/>
  </p:clrMapOvr>
  <p:transition spd="slow">
    <p:wipe/>
    <p:sndAc>
      <p:stSnd>
        <p:snd r:embed="rId1" name="arrow.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CDDA-5505-4E77-9074-DE144685D6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04D8E4-8D06-4C19-AF14-92CE89C10C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ACC74E-ED5C-46A8-8BB6-E9810EE419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E12FC0-FC54-44B2-9A9A-5BF5F63D33F2}"/>
              </a:ext>
            </a:extLst>
          </p:cNvPr>
          <p:cNvSpPr>
            <a:spLocks noGrp="1"/>
          </p:cNvSpPr>
          <p:nvPr>
            <p:ph type="dt" sz="half" idx="10"/>
          </p:nvPr>
        </p:nvSpPr>
        <p:spPr/>
        <p:txBody>
          <a:bodyPr/>
          <a:lstStyle/>
          <a:p>
            <a:fld id="{EE30EBD5-81BF-47B1-ABDD-1D81936CC9C5}" type="datetimeFigureOut">
              <a:rPr lang="en-US" smtClean="0"/>
              <a:t>2/23/2025</a:t>
            </a:fld>
            <a:endParaRPr lang="en-US"/>
          </a:p>
        </p:txBody>
      </p:sp>
      <p:sp>
        <p:nvSpPr>
          <p:cNvPr id="6" name="Footer Placeholder 5">
            <a:extLst>
              <a:ext uri="{FF2B5EF4-FFF2-40B4-BE49-F238E27FC236}">
                <a16:creationId xmlns:a16="http://schemas.microsoft.com/office/drawing/2014/main" id="{29884FEA-94F1-4D24-8DBD-D53E0FA6E8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3F24EA-D6CC-47E4-9C6A-F7AAE6F7A03E}"/>
              </a:ext>
            </a:extLst>
          </p:cNvPr>
          <p:cNvSpPr>
            <a:spLocks noGrp="1"/>
          </p:cNvSpPr>
          <p:nvPr>
            <p:ph type="sldNum" sz="quarter" idx="12"/>
          </p:nvPr>
        </p:nvSpPr>
        <p:spPr/>
        <p:txBody>
          <a:bodyPr/>
          <a:lstStyle/>
          <a:p>
            <a:fld id="{2E9C1EEB-59FA-482A-B540-701ADD978528}" type="slidenum">
              <a:rPr lang="en-US" smtClean="0"/>
              <a:t>‹#›</a:t>
            </a:fld>
            <a:endParaRPr lang="en-US"/>
          </a:p>
        </p:txBody>
      </p:sp>
    </p:spTree>
    <p:extLst>
      <p:ext uri="{BB962C8B-B14F-4D97-AF65-F5344CB8AC3E}">
        <p14:creationId xmlns:p14="http://schemas.microsoft.com/office/powerpoint/2010/main" val="836030487"/>
      </p:ext>
    </p:extLst>
  </p:cSld>
  <p:clrMapOvr>
    <a:masterClrMapping/>
  </p:clrMapOvr>
  <p:transition spd="slow">
    <p:wipe/>
    <p:sndAc>
      <p:stSnd>
        <p:snd r:embed="rId1" name="arrow.wav"/>
      </p:stSnd>
    </p:sndAc>
  </p:transition>
</p:sldLayout>
</file>

<file path=ppt/slideMasters/_rels/slideMaster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F45904-4D28-4E27-8518-7B359F6065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7C49C6-0839-4E26-8122-1AC152521E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6A2A32-6318-466E-9F97-C0E0150690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7899AA-6FBA-4737-B78B-630CB653766D}" type="datetimeFigureOut">
              <a:rPr lang="en-US" smtClean="0"/>
              <a:t>2/23/2025</a:t>
            </a:fld>
            <a:endParaRPr lang="en-US"/>
          </a:p>
        </p:txBody>
      </p:sp>
      <p:sp>
        <p:nvSpPr>
          <p:cNvPr id="5" name="Footer Placeholder 4">
            <a:extLst>
              <a:ext uri="{FF2B5EF4-FFF2-40B4-BE49-F238E27FC236}">
                <a16:creationId xmlns:a16="http://schemas.microsoft.com/office/drawing/2014/main" id="{65AC2194-011C-41BF-9AC3-705E3B5427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361ABC2-E657-4C72-B6A1-D34AE79AC4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08C229-0285-4493-8903-0921C205DE7B}" type="slidenum">
              <a:rPr lang="en-US" smtClean="0"/>
              <a:t>‹#›</a:t>
            </a:fld>
            <a:endParaRPr lang="en-US"/>
          </a:p>
        </p:txBody>
      </p:sp>
    </p:spTree>
    <p:extLst>
      <p:ext uri="{BB962C8B-B14F-4D97-AF65-F5344CB8AC3E}">
        <p14:creationId xmlns:p14="http://schemas.microsoft.com/office/powerpoint/2010/main" val="1684283423"/>
      </p:ext>
    </p:extLst>
  </p:cSld>
  <p:clrMap bg1="lt1" tx1="dk1" bg2="lt2" tx2="dk2" accent1="accent1" accent2="accent2" accent3="accent3" accent4="accent4" accent5="accent5" accent6="accent6" hlink="hlink" folHlink="folHlink"/>
  <p:sldLayoutIdLst>
    <p:sldLayoutId id="2147483654" r:id="rId1"/>
  </p:sldLayoutIdLst>
  <p:transition spd="slow">
    <p:wipe/>
    <p:sndAc>
      <p:stSnd>
        <p:snd r:embed="rId3" name="arrow.wav"/>
      </p:stSnd>
    </p:sndAc>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0ECB0F-D67B-43CF-B788-EA96C9CA96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F67FE2-65CF-4A6F-99E1-0E463FB565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BCCE9C-E03A-4267-915F-74F3CE3319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30EBD5-81BF-47B1-ABDD-1D81936CC9C5}" type="datetimeFigureOut">
              <a:rPr lang="en-US" smtClean="0"/>
              <a:t>2/23/2025</a:t>
            </a:fld>
            <a:endParaRPr lang="en-US"/>
          </a:p>
        </p:txBody>
      </p:sp>
      <p:sp>
        <p:nvSpPr>
          <p:cNvPr id="5" name="Footer Placeholder 4">
            <a:extLst>
              <a:ext uri="{FF2B5EF4-FFF2-40B4-BE49-F238E27FC236}">
                <a16:creationId xmlns:a16="http://schemas.microsoft.com/office/drawing/2014/main" id="{E9B090DF-3BC9-412C-B7C2-F4526F0D8E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7A1ECE4-CFD4-4FA8-A836-4916B9E682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9C1EEB-59FA-482A-B540-701ADD978528}" type="slidenum">
              <a:rPr lang="en-US" smtClean="0"/>
              <a:t>‹#›</a:t>
            </a:fld>
            <a:endParaRPr lang="en-US"/>
          </a:p>
        </p:txBody>
      </p:sp>
    </p:spTree>
    <p:extLst>
      <p:ext uri="{BB962C8B-B14F-4D97-AF65-F5344CB8AC3E}">
        <p14:creationId xmlns:p14="http://schemas.microsoft.com/office/powerpoint/2010/main" val="230914578"/>
      </p:ext>
    </p:extLst>
  </p:cSld>
  <p:clrMap bg1="lt1" tx1="dk1" bg2="lt2" tx2="dk2" accent1="accent1" accent2="accent2" accent3="accent3" accent4="accent4" accent5="accent5" accent6="accent6" hlink="hlink" folHlink="folHlink"/>
  <p:sldLayoutIdLst>
    <p:sldLayoutId id="2147483670" r:id="rId1"/>
  </p:sldLayoutIdLst>
  <p:transition spd="slow">
    <p:wipe/>
    <p:sndAc>
      <p:stSnd>
        <p:snd r:embed="rId3" name="arrow.wav"/>
      </p:stSnd>
    </p:sndAc>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hyperlink" Target="https://www.iranwatch.org/sites/default/files/Natanz-092002.jpg" TargetMode="External"/><Relationship Id="rId3" Type="http://schemas.openxmlformats.org/officeDocument/2006/relationships/hyperlink" Target="http://cryptome.org/eyeball/natanz/natanz.html" TargetMode="External"/><Relationship Id="rId7" Type="http://schemas.openxmlformats.org/officeDocument/2006/relationships/hyperlink" Target="https://spectrum.ieee.org/the-real-story-of-stuxnet" TargetMode="External"/><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hyperlink" Target="https://thehackernews.com/2011/07/stuxnet-source-code-released-online.html" TargetMode="External"/><Relationship Id="rId11" Type="http://schemas.openxmlformats.org/officeDocument/2006/relationships/hyperlink" Target="https://www.wired.com/2011/02/stuxnet-five-main-target/" TargetMode="External"/><Relationship Id="rId5" Type="http://schemas.openxmlformats.org/officeDocument/2006/relationships/hyperlink" Target="https://hackernoon.com/stuxnet-or-how-to-destroy-a-centrifuge-with-a-small-piece-of-code-66se283f" TargetMode="External"/><Relationship Id="rId10" Type="http://schemas.openxmlformats.org/officeDocument/2006/relationships/hyperlink" Target="https://en.wikipedia.org/wiki/Natanz" TargetMode="External"/><Relationship Id="rId4" Type="http://schemas.openxmlformats.org/officeDocument/2006/relationships/hyperlink" Target="https://nuke.fas.org/guide/iran/facility/siemens_pwr_bilbis_a.jpg" TargetMode="External"/><Relationship Id="rId9" Type="http://schemas.openxmlformats.org/officeDocument/2006/relationships/hyperlink" Target="https://www.reuters.com/world/middle-east/iran-feeds-highly-enriched-uranium-into-more-machines-natanz-iaea-2021-10-2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bwMode="hidden">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large white building&#10;&#10;Description automatically generated">
            <a:extLst>
              <a:ext uri="{FF2B5EF4-FFF2-40B4-BE49-F238E27FC236}">
                <a16:creationId xmlns:a16="http://schemas.microsoft.com/office/drawing/2014/main" id="{BA07D482-37BE-4B71-A879-507CC656ACE4}"/>
              </a:ext>
            </a:extLst>
          </p:cNvPr>
          <p:cNvPicPr>
            <a:picLocks noChangeAspect="1"/>
          </p:cNvPicPr>
          <p:nvPr/>
        </p:nvPicPr>
        <p:blipFill rotWithShape="1">
          <a:blip r:embed="rId4">
            <a:extLst>
              <a:ext uri="{28A0092B-C50C-407E-A947-70E740481C1C}">
                <a14:useLocalDpi xmlns:a14="http://schemas.microsoft.com/office/drawing/2010/main" val="0"/>
              </a:ext>
            </a:extLst>
          </a:blip>
          <a:srcRect l="281" t="9091" r="28477" b="2"/>
          <a:stretch/>
        </p:blipFill>
        <p:spPr>
          <a:xfrm>
            <a:off x="3518154" y="10"/>
            <a:ext cx="8668512" cy="6857990"/>
          </a:xfrm>
          <a:prstGeom prst="rect">
            <a:avLst/>
          </a:prstGeom>
        </p:spPr>
      </p:pic>
      <p:sp>
        <p:nvSpPr>
          <p:cNvPr id="15" name="Rectangle 14">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639B1B95-E203-436C-8A8E-3EA1148E59BC}"/>
              </a:ext>
            </a:extLst>
          </p:cNvPr>
          <p:cNvSpPr>
            <a:spLocks noGrp="1"/>
          </p:cNvSpPr>
          <p:nvPr>
            <p:ph type="title"/>
          </p:nvPr>
        </p:nvSpPr>
        <p:spPr>
          <a:xfrm>
            <a:off x="458169" y="1245646"/>
            <a:ext cx="4023360" cy="3204134"/>
          </a:xfrm>
        </p:spPr>
        <p:txBody>
          <a:bodyPr vert="horz" lIns="91440" tIns="45720" rIns="91440" bIns="45720" rtlCol="0" anchor="b">
            <a:normAutofit/>
          </a:bodyPr>
          <a:lstStyle/>
          <a:p>
            <a:r>
              <a:rPr lang="en-US" sz="4800" dirty="0"/>
              <a:t>Stuxnet Worm Attack</a:t>
            </a:r>
          </a:p>
        </p:txBody>
      </p:sp>
      <p:sp>
        <p:nvSpPr>
          <p:cNvPr id="17" name="Rectangle 1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C2973F66-EACE-47A5-B2D4-F4F6237790A6}"/>
              </a:ext>
            </a:extLst>
          </p:cNvPr>
          <p:cNvSpPr txBox="1"/>
          <p:nvPr/>
        </p:nvSpPr>
        <p:spPr>
          <a:xfrm>
            <a:off x="458169" y="4948088"/>
            <a:ext cx="6641303" cy="2139047"/>
          </a:xfrm>
          <a:prstGeom prst="rect">
            <a:avLst/>
          </a:prstGeom>
          <a:noFill/>
        </p:spPr>
        <p:txBody>
          <a:bodyPr wrap="square" rtlCol="0">
            <a:spAutoFit/>
          </a:bodyPr>
          <a:lstStyle/>
          <a:p>
            <a:pPr>
              <a:spcAft>
                <a:spcPts val="600"/>
              </a:spcAft>
            </a:pPr>
            <a:r>
              <a:rPr lang="en-US" dirty="0"/>
              <a:t>Timmy Jenkins</a:t>
            </a:r>
          </a:p>
          <a:p>
            <a:pPr>
              <a:spcAft>
                <a:spcPts val="600"/>
              </a:spcAft>
            </a:pPr>
            <a:r>
              <a:rPr lang="en-US" dirty="0"/>
              <a:t>CSCI 405 Principles of Cybersecurity </a:t>
            </a:r>
          </a:p>
          <a:p>
            <a:pPr>
              <a:spcAft>
                <a:spcPts val="600"/>
              </a:spcAft>
            </a:pPr>
            <a:r>
              <a:rPr lang="en-US" dirty="0"/>
              <a:t>Charleston Southern University</a:t>
            </a:r>
          </a:p>
          <a:p>
            <a:pPr>
              <a:spcAft>
                <a:spcPts val="600"/>
              </a:spcAft>
            </a:pPr>
            <a:r>
              <a:rPr lang="en-US" dirty="0"/>
              <a:t>Professor Patrick Hill</a:t>
            </a:r>
          </a:p>
          <a:p>
            <a:pPr>
              <a:spcAft>
                <a:spcPts val="600"/>
              </a:spcAft>
            </a:pPr>
            <a:r>
              <a:rPr lang="en-US" dirty="0"/>
              <a:t>2/23/2025</a:t>
            </a:r>
          </a:p>
          <a:p>
            <a:pPr>
              <a:spcAft>
                <a:spcPts val="600"/>
              </a:spcAft>
            </a:pPr>
            <a:endParaRPr lang="en-US" dirty="0"/>
          </a:p>
        </p:txBody>
      </p:sp>
    </p:spTree>
    <p:extLst>
      <p:ext uri="{BB962C8B-B14F-4D97-AF65-F5344CB8AC3E}">
        <p14:creationId xmlns:p14="http://schemas.microsoft.com/office/powerpoint/2010/main" val="4100739524"/>
      </p:ext>
    </p:extLst>
  </p:cSld>
  <p:clrMapOvr>
    <a:overrideClrMapping bg1="dk1" tx1="lt1" bg2="dk2" tx2="lt2" accent1="accent1" accent2="accent2" accent3="accent3" accent4="accent4" accent5="accent5" accent6="accent6" hlink="hlink" folHlink="folHlink"/>
  </p:clrMapOvr>
  <p:transition spd="slow">
    <p:wipe/>
    <p:sndAc>
      <p:stSnd>
        <p:snd r:embed="rId3" name="arrow.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1DE23F2-AC00-477C-8B90-7C509911E633}"/>
              </a:ext>
            </a:extLst>
          </p:cNvPr>
          <p:cNvSpPr>
            <a:spLocks noGrp="1"/>
          </p:cNvSpPr>
          <p:nvPr>
            <p:ph type="title"/>
          </p:nvPr>
        </p:nvSpPr>
        <p:spPr>
          <a:xfrm>
            <a:off x="648929" y="629266"/>
            <a:ext cx="3667039" cy="1676603"/>
          </a:xfrm>
        </p:spPr>
        <p:txBody>
          <a:bodyPr vert="horz" lIns="91440" tIns="45720" rIns="91440" bIns="45720" rtlCol="0" anchor="ctr">
            <a:normAutofit/>
          </a:bodyPr>
          <a:lstStyle/>
          <a:p>
            <a:r>
              <a:rPr lang="en-US" sz="3600" dirty="0"/>
              <a:t>What happened?</a:t>
            </a:r>
          </a:p>
        </p:txBody>
      </p:sp>
      <p:sp>
        <p:nvSpPr>
          <p:cNvPr id="11" name="Text Placeholder 10">
            <a:extLst>
              <a:ext uri="{FF2B5EF4-FFF2-40B4-BE49-F238E27FC236}">
                <a16:creationId xmlns:a16="http://schemas.microsoft.com/office/drawing/2014/main" id="{EDB90C39-237D-4519-9C7C-B61D78D07F37}"/>
              </a:ext>
            </a:extLst>
          </p:cNvPr>
          <p:cNvSpPr>
            <a:spLocks noGrp="1"/>
          </p:cNvSpPr>
          <p:nvPr>
            <p:ph type="body" sz="half" idx="2"/>
          </p:nvPr>
        </p:nvSpPr>
        <p:spPr>
          <a:xfrm>
            <a:off x="648928" y="2229485"/>
            <a:ext cx="3667036" cy="4419599"/>
          </a:xfrm>
        </p:spPr>
        <p:txBody>
          <a:bodyPr vert="horz" lIns="91440" tIns="45720" rIns="91440" bIns="45720" rtlCol="0">
            <a:normAutofit lnSpcReduction="10000"/>
          </a:bodyPr>
          <a:lstStyle/>
          <a:p>
            <a:pPr indent="-228600">
              <a:buFont typeface="Arial" panose="020B0604020202020204" pitchFamily="34" charset="0"/>
              <a:buChar char="•"/>
            </a:pPr>
            <a:r>
              <a:rPr lang="en-US" sz="2000" dirty="0"/>
              <a:t>The Natanz nuclear enrichment complex in Natanz, Iran, was hit by a sophisticated cyber attack between 2007 and 2010. This multi-national attack, allegedly carried out by the United States, Germany, France, Denmark, Israel, and Great Britain, caused catastrophic damage to the facility’s centrifuges (Reuters, 2021). </a:t>
            </a:r>
          </a:p>
          <a:p>
            <a:pPr indent="-228600">
              <a:buFont typeface="Arial" panose="020B0604020202020204" pitchFamily="34" charset="0"/>
              <a:buChar char="•"/>
            </a:pPr>
            <a:r>
              <a:rPr lang="en-US" sz="2000" dirty="0"/>
              <a:t>The ultimate goal was to stall the enrichment process for diplomatic reasons, resulting in the destruction of about a fifth of Iran’s uranium enrichment capabilities.</a:t>
            </a:r>
            <a:endParaRPr lang="en-US" sz="1800" dirty="0"/>
          </a:p>
        </p:txBody>
      </p:sp>
      <p:sp>
        <p:nvSpPr>
          <p:cNvPr id="19" name="Rectangle 18">
            <a:extLst>
              <a:ext uri="{FF2B5EF4-FFF2-40B4-BE49-F238E27FC236}">
                <a16:creationId xmlns:a16="http://schemas.microsoft.com/office/drawing/2014/main" id="{F2B38F72-8FC4-4001-8C67-FA6B86DEC7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2"/>
            <a:ext cx="7555992" cy="68579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Placeholder 4" descr="A picture containing sitting, old, standing, laying&#10;&#10;Description automatically generated">
            <a:extLst>
              <a:ext uri="{FF2B5EF4-FFF2-40B4-BE49-F238E27FC236}">
                <a16:creationId xmlns:a16="http://schemas.microsoft.com/office/drawing/2014/main" id="{AB5E054B-EED0-4E46-882F-580351344216}"/>
              </a:ext>
            </a:extLst>
          </p:cNvPr>
          <p:cNvPicPr>
            <a:picLocks noGrp="1" noChangeAspect="1"/>
          </p:cNvPicPr>
          <p:nvPr>
            <p:ph type="pic" idx="1"/>
          </p:nvPr>
        </p:nvPicPr>
        <p:blipFill>
          <a:blip r:embed="rId4">
            <a:extLst>
              <a:ext uri="{28A0092B-C50C-407E-A947-70E740481C1C}">
                <a14:useLocalDpi xmlns:a14="http://schemas.microsoft.com/office/drawing/2010/main" val="0"/>
              </a:ext>
            </a:extLst>
          </a:blip>
          <a:srcRect l="16" r="16"/>
          <a:stretch>
            <a:fillRect/>
          </a:stretch>
        </p:blipFill>
        <p:spPr>
          <a:xfrm>
            <a:off x="4636007" y="1"/>
            <a:ext cx="7555993" cy="6858000"/>
          </a:xfrm>
        </p:spPr>
      </p:pic>
    </p:spTree>
    <p:extLst>
      <p:ext uri="{BB962C8B-B14F-4D97-AF65-F5344CB8AC3E}">
        <p14:creationId xmlns:p14="http://schemas.microsoft.com/office/powerpoint/2010/main" val="604789110"/>
      </p:ext>
    </p:extLst>
  </p:cSld>
  <p:clrMapOvr>
    <a:overrideClrMapping bg1="dk1" tx1="lt1" bg2="dk2" tx2="lt2" accent1="accent1" accent2="accent2" accent3="accent3" accent4="accent4" accent5="accent5" accent6="accent6" hlink="hlink" folHlink="folHlink"/>
  </p:clrMapOvr>
  <p:transition spd="slow">
    <p:wipe/>
    <p:sndAc>
      <p:stSnd>
        <p:snd r:embed="rId3" name="arrow.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EFFF4A2-EB01-4738-9824-8D9A72A51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31DE23F2-AC00-477C-8B90-7C509911E633}"/>
              </a:ext>
            </a:extLst>
          </p:cNvPr>
          <p:cNvSpPr>
            <a:spLocks noGrp="1"/>
          </p:cNvSpPr>
          <p:nvPr>
            <p:ph type="title"/>
          </p:nvPr>
        </p:nvSpPr>
        <p:spPr>
          <a:xfrm>
            <a:off x="969264" y="4535424"/>
            <a:ext cx="3685032" cy="1591056"/>
          </a:xfrm>
        </p:spPr>
        <p:txBody>
          <a:bodyPr vert="horz" lIns="91440" tIns="45720" rIns="91440" bIns="45720" rtlCol="0" anchor="t">
            <a:normAutofit/>
          </a:bodyPr>
          <a:lstStyle/>
          <a:p>
            <a:r>
              <a:rPr lang="en-US" sz="3400" kern="1200" dirty="0">
                <a:solidFill>
                  <a:schemeClr val="tx1"/>
                </a:solidFill>
                <a:latin typeface="+mj-lt"/>
                <a:ea typeface="+mj-ea"/>
                <a:cs typeface="+mj-cs"/>
              </a:rPr>
              <a:t>Where did the attack take place?</a:t>
            </a:r>
          </a:p>
        </p:txBody>
      </p:sp>
      <p:pic>
        <p:nvPicPr>
          <p:cNvPr id="5" name="Picture Placeholder 4" descr="A picture containing sitting, old, standing, laying&#10;&#10;Description automatically generated">
            <a:extLst>
              <a:ext uri="{FF2B5EF4-FFF2-40B4-BE49-F238E27FC236}">
                <a16:creationId xmlns:a16="http://schemas.microsoft.com/office/drawing/2014/main" id="{AB5E054B-EED0-4E46-882F-580351344216}"/>
              </a:ext>
            </a:extLst>
          </p:cNvPr>
          <p:cNvPicPr>
            <a:picLocks noGrp="1" noChangeAspect="1"/>
          </p:cNvPicPr>
          <p:nvPr>
            <p:ph type="pic" idx="1"/>
          </p:nvPr>
        </p:nvPicPr>
        <p:blipFill rotWithShape="1">
          <a:blip r:embed="rId4">
            <a:extLst>
              <a:ext uri="{28A0092B-C50C-407E-A947-70E740481C1C}">
                <a14:useLocalDpi xmlns:a14="http://schemas.microsoft.com/office/drawing/2010/main" val="0"/>
              </a:ext>
            </a:extLst>
          </a:blip>
          <a:srcRect r="14504" b="2"/>
          <a:stretch/>
        </p:blipFill>
        <p:spPr>
          <a:xfrm>
            <a:off x="20" y="10"/>
            <a:ext cx="4654276" cy="4224518"/>
          </a:xfrm>
          <a:prstGeom prst="rect">
            <a:avLst/>
          </a:prstGeom>
        </p:spPr>
      </p:pic>
      <p:pic>
        <p:nvPicPr>
          <p:cNvPr id="3" name="Picture 2" descr="A circuit board&#10;&#10;Description automatically generated">
            <a:extLst>
              <a:ext uri="{FF2B5EF4-FFF2-40B4-BE49-F238E27FC236}">
                <a16:creationId xmlns:a16="http://schemas.microsoft.com/office/drawing/2014/main" id="{BE0C41CC-351A-42C0-A283-809A42CE5835}"/>
              </a:ext>
            </a:extLst>
          </p:cNvPr>
          <p:cNvPicPr>
            <a:picLocks noChangeAspect="1"/>
          </p:cNvPicPr>
          <p:nvPr/>
        </p:nvPicPr>
        <p:blipFill rotWithShape="1">
          <a:blip r:embed="rId5">
            <a:extLst>
              <a:ext uri="{28A0092B-C50C-407E-A947-70E740481C1C}">
                <a14:useLocalDpi xmlns:a14="http://schemas.microsoft.com/office/drawing/2010/main" val="0"/>
              </a:ext>
            </a:extLst>
          </a:blip>
          <a:srcRect t="4920" r="2" b="2"/>
          <a:stretch/>
        </p:blipFill>
        <p:spPr>
          <a:xfrm>
            <a:off x="4657344" y="10"/>
            <a:ext cx="7534656" cy="4226709"/>
          </a:xfrm>
          <a:prstGeom prst="rect">
            <a:avLst/>
          </a:prstGeom>
        </p:spPr>
      </p:pic>
      <p:sp>
        <p:nvSpPr>
          <p:cNvPr id="11" name="Text Placeholder 10">
            <a:extLst>
              <a:ext uri="{FF2B5EF4-FFF2-40B4-BE49-F238E27FC236}">
                <a16:creationId xmlns:a16="http://schemas.microsoft.com/office/drawing/2014/main" id="{EDB90C39-237D-4519-9C7C-B61D78D07F37}"/>
              </a:ext>
            </a:extLst>
          </p:cNvPr>
          <p:cNvSpPr>
            <a:spLocks noGrp="1"/>
          </p:cNvSpPr>
          <p:nvPr>
            <p:ph type="body" sz="half" idx="2"/>
          </p:nvPr>
        </p:nvSpPr>
        <p:spPr>
          <a:xfrm>
            <a:off x="5005137" y="4224528"/>
            <a:ext cx="4568631" cy="2633472"/>
          </a:xfrm>
        </p:spPr>
        <p:txBody>
          <a:bodyPr vert="horz" lIns="91440" tIns="45720" rIns="91440" bIns="45720" rtlCol="0">
            <a:normAutofit/>
          </a:bodyPr>
          <a:lstStyle/>
          <a:p>
            <a:pPr indent="-228600">
              <a:buFont typeface="Arial" panose="020B0604020202020204" pitchFamily="34" charset="0"/>
              <a:buChar char="•"/>
            </a:pPr>
            <a:r>
              <a:rPr lang="en-US" dirty="0"/>
              <a:t>The Bushehr power plant was initially believed to be a primary target, but the Natanz Enrichment Facility was ultimately the main focus (Iran Watch, 2002). </a:t>
            </a:r>
          </a:p>
          <a:p>
            <a:pPr indent="-228600">
              <a:buFont typeface="Arial" panose="020B0604020202020204" pitchFamily="34" charset="0"/>
              <a:buChar char="•"/>
            </a:pPr>
            <a:r>
              <a:rPr lang="en-US" dirty="0"/>
              <a:t>Operated by members of the Atomic Energy of Iran and the Islamic Revolutionary Guard, Natanz is Iran’s primary location for nuclear material enrichment (Wikipedia, 2020).</a:t>
            </a:r>
          </a:p>
          <a:p>
            <a:pPr indent="-228600">
              <a:buFont typeface="Arial" panose="020B0604020202020204" pitchFamily="34" charset="0"/>
              <a:buChar char="•"/>
            </a:pPr>
            <a:r>
              <a:rPr lang="en-US" dirty="0"/>
              <a:t> Personal computers of workers at the Bushehr power plant were also infected during the attack.</a:t>
            </a:r>
          </a:p>
        </p:txBody>
      </p:sp>
      <p:grpSp>
        <p:nvGrpSpPr>
          <p:cNvPr id="26" name="Group 25">
            <a:extLst>
              <a:ext uri="{FF2B5EF4-FFF2-40B4-BE49-F238E27FC236}">
                <a16:creationId xmlns:a16="http://schemas.microsoft.com/office/drawing/2014/main" id="{D4469D90-62FA-49B2-981E-5305361D5A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02370" y="4592474"/>
            <a:ext cx="1128382" cy="847206"/>
            <a:chOff x="8183879" y="1000124"/>
            <a:chExt cx="1562267" cy="1172973"/>
          </a:xfrm>
        </p:grpSpPr>
        <p:sp>
          <p:nvSpPr>
            <p:cNvPr id="27" name="Freeform 5">
              <a:extLst>
                <a:ext uri="{FF2B5EF4-FFF2-40B4-BE49-F238E27FC236}">
                  <a16:creationId xmlns:a16="http://schemas.microsoft.com/office/drawing/2014/main" id="{281E6897-9689-4C48-ADC3-9F41AAE3A9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28" name="Freeform 5">
              <a:extLst>
                <a:ext uri="{FF2B5EF4-FFF2-40B4-BE49-F238E27FC236}">
                  <a16:creationId xmlns:a16="http://schemas.microsoft.com/office/drawing/2014/main" id="{404E145C-C4EA-4DED-B029-22B811FCEB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88177315"/>
      </p:ext>
    </p:extLst>
  </p:cSld>
  <p:clrMapOvr>
    <a:masterClrMapping/>
  </p:clrMapOvr>
  <p:transition spd="slow">
    <p:wipe/>
    <p:sndAc>
      <p:stSnd>
        <p:snd r:embed="rId3" name="arrow.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1DE23F2-AC00-477C-8B90-7C509911E633}"/>
              </a:ext>
            </a:extLst>
          </p:cNvPr>
          <p:cNvSpPr>
            <a:spLocks noGrp="1"/>
          </p:cNvSpPr>
          <p:nvPr>
            <p:ph type="title"/>
          </p:nvPr>
        </p:nvSpPr>
        <p:spPr>
          <a:xfrm>
            <a:off x="648929" y="629266"/>
            <a:ext cx="3667039" cy="1676603"/>
          </a:xfrm>
        </p:spPr>
        <p:txBody>
          <a:bodyPr vert="horz" lIns="91440" tIns="45720" rIns="91440" bIns="45720" rtlCol="0" anchor="ctr">
            <a:normAutofit/>
          </a:bodyPr>
          <a:lstStyle/>
          <a:p>
            <a:r>
              <a:rPr lang="en-US" sz="3600"/>
              <a:t>What is the Stuxnet Worm?</a:t>
            </a:r>
          </a:p>
        </p:txBody>
      </p:sp>
      <p:sp>
        <p:nvSpPr>
          <p:cNvPr id="11" name="Text Placeholder 10">
            <a:extLst>
              <a:ext uri="{FF2B5EF4-FFF2-40B4-BE49-F238E27FC236}">
                <a16:creationId xmlns:a16="http://schemas.microsoft.com/office/drawing/2014/main" id="{EDB90C39-237D-4519-9C7C-B61D78D07F37}"/>
              </a:ext>
            </a:extLst>
          </p:cNvPr>
          <p:cNvSpPr>
            <a:spLocks noGrp="1"/>
          </p:cNvSpPr>
          <p:nvPr>
            <p:ph type="body" sz="half" idx="2"/>
          </p:nvPr>
        </p:nvSpPr>
        <p:spPr>
          <a:xfrm>
            <a:off x="648931" y="2438401"/>
            <a:ext cx="3667036" cy="3779520"/>
          </a:xfrm>
        </p:spPr>
        <p:txBody>
          <a:bodyPr vert="horz" lIns="91440" tIns="45720" rIns="91440" bIns="45720" rtlCol="0">
            <a:normAutofit/>
          </a:bodyPr>
          <a:lstStyle/>
          <a:p>
            <a:pPr indent="-228600">
              <a:buFont typeface="Arial" panose="020B0604020202020204" pitchFamily="34" charset="0"/>
              <a:buChar char="•"/>
            </a:pPr>
            <a:r>
              <a:rPr lang="en-US" sz="1800" dirty="0"/>
              <a:t>Cyberweapon allegedly developed by the United States and Israel.</a:t>
            </a:r>
          </a:p>
          <a:p>
            <a:pPr indent="-228600">
              <a:buFont typeface="Arial" panose="020B0604020202020204" pitchFamily="34" charset="0"/>
              <a:buChar char="•"/>
            </a:pPr>
            <a:r>
              <a:rPr lang="en-US" sz="1800" dirty="0"/>
              <a:t>Originally thought to be developed around 2005.</a:t>
            </a:r>
          </a:p>
          <a:p>
            <a:pPr indent="-228600">
              <a:buFont typeface="Arial" panose="020B0604020202020204" pitchFamily="34" charset="0"/>
              <a:buChar char="•"/>
            </a:pPr>
            <a:r>
              <a:rPr lang="en-US" sz="1800" dirty="0"/>
              <a:t>It was designed to target SCADA systems (Supervisory Control and Data Acquisition systems) (</a:t>
            </a:r>
            <a:r>
              <a:rPr lang="en-US" sz="1800" dirty="0" err="1"/>
              <a:t>Zetter</a:t>
            </a:r>
            <a:r>
              <a:rPr lang="en-US" sz="1800" dirty="0"/>
              <a:t>, 2015).</a:t>
            </a:r>
          </a:p>
          <a:p>
            <a:pPr indent="-228600">
              <a:buFont typeface="Arial" panose="020B0604020202020204" pitchFamily="34" charset="0"/>
              <a:buChar char="•"/>
            </a:pPr>
            <a:r>
              <a:rPr lang="en-US" sz="1800" dirty="0"/>
              <a:t>It has widely believed that this is the worm that is responsible for the cyber attack that caused extreme damage to the Iranian nuclear program.</a:t>
            </a:r>
          </a:p>
        </p:txBody>
      </p:sp>
      <p:sp>
        <p:nvSpPr>
          <p:cNvPr id="19" name="Rectangle 18">
            <a:extLst>
              <a:ext uri="{FF2B5EF4-FFF2-40B4-BE49-F238E27FC236}">
                <a16:creationId xmlns:a16="http://schemas.microsoft.com/office/drawing/2014/main" id="{F2B38F72-8FC4-4001-8C67-FA6B86DEC7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2"/>
            <a:ext cx="7555992" cy="68579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Placeholder 13" descr="A close up of a newspaper&#10;&#10;Description automatically generated">
            <a:extLst>
              <a:ext uri="{FF2B5EF4-FFF2-40B4-BE49-F238E27FC236}">
                <a16:creationId xmlns:a16="http://schemas.microsoft.com/office/drawing/2014/main" id="{101FA6DE-9B9F-4CF5-A7F0-1A2E645A4987}"/>
              </a:ext>
            </a:extLst>
          </p:cNvPr>
          <p:cNvPicPr>
            <a:picLocks noGrp="1" noChangeAspect="1"/>
          </p:cNvPicPr>
          <p:nvPr>
            <p:ph type="pic" idx="1"/>
          </p:nvPr>
        </p:nvPicPr>
        <p:blipFill rotWithShape="1">
          <a:blip r:embed="rId4">
            <a:extLst>
              <a:ext uri="{28A0092B-C50C-407E-A947-70E740481C1C}">
                <a14:useLocalDpi xmlns:a14="http://schemas.microsoft.com/office/drawing/2010/main" val="0"/>
              </a:ext>
            </a:extLst>
          </a:blip>
          <a:srcRect r="15891"/>
          <a:stretch/>
        </p:blipFill>
        <p:spPr>
          <a:xfrm>
            <a:off x="5276088" y="640082"/>
            <a:ext cx="6276250" cy="5577838"/>
          </a:xfrm>
          <a:prstGeom prst="rect">
            <a:avLst/>
          </a:prstGeom>
          <a:effectLst/>
        </p:spPr>
      </p:pic>
    </p:spTree>
    <p:extLst>
      <p:ext uri="{BB962C8B-B14F-4D97-AF65-F5344CB8AC3E}">
        <p14:creationId xmlns:p14="http://schemas.microsoft.com/office/powerpoint/2010/main" val="4263610797"/>
      </p:ext>
    </p:extLst>
  </p:cSld>
  <p:clrMapOvr>
    <a:overrideClrMapping bg1="dk1" tx1="lt1" bg2="dk2" tx2="lt2" accent1="accent1" accent2="accent2" accent3="accent3" accent4="accent4" accent5="accent5" accent6="accent6" hlink="hlink" folHlink="folHlink"/>
  </p:clrMapOvr>
  <p:transition spd="slow">
    <p:wipe/>
    <p:sndAc>
      <p:stSnd>
        <p:snd r:embed="rId3" name="arrow.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1DE23F2-AC00-477C-8B90-7C509911E633}"/>
              </a:ext>
            </a:extLst>
          </p:cNvPr>
          <p:cNvSpPr>
            <a:spLocks noGrp="1"/>
          </p:cNvSpPr>
          <p:nvPr>
            <p:ph type="title"/>
          </p:nvPr>
        </p:nvSpPr>
        <p:spPr>
          <a:xfrm>
            <a:off x="648929" y="149123"/>
            <a:ext cx="3667039" cy="1676603"/>
          </a:xfrm>
        </p:spPr>
        <p:txBody>
          <a:bodyPr vert="horz" lIns="91440" tIns="45720" rIns="91440" bIns="45720" rtlCol="0" anchor="ctr">
            <a:normAutofit/>
          </a:bodyPr>
          <a:lstStyle/>
          <a:p>
            <a:r>
              <a:rPr lang="en-US" sz="3600" dirty="0"/>
              <a:t>How does it work?</a:t>
            </a:r>
          </a:p>
        </p:txBody>
      </p:sp>
      <p:sp>
        <p:nvSpPr>
          <p:cNvPr id="11" name="Text Placeholder 10">
            <a:extLst>
              <a:ext uri="{FF2B5EF4-FFF2-40B4-BE49-F238E27FC236}">
                <a16:creationId xmlns:a16="http://schemas.microsoft.com/office/drawing/2014/main" id="{EDB90C39-237D-4519-9C7C-B61D78D07F37}"/>
              </a:ext>
            </a:extLst>
          </p:cNvPr>
          <p:cNvSpPr>
            <a:spLocks noGrp="1"/>
          </p:cNvSpPr>
          <p:nvPr>
            <p:ph type="body" sz="half" idx="2"/>
          </p:nvPr>
        </p:nvSpPr>
        <p:spPr>
          <a:xfrm>
            <a:off x="648929" y="1559911"/>
            <a:ext cx="3667036" cy="4804794"/>
          </a:xfrm>
        </p:spPr>
        <p:txBody>
          <a:bodyPr vert="horz" lIns="91440" tIns="45720" rIns="91440" bIns="45720" rtlCol="0">
            <a:noAutofit/>
          </a:bodyPr>
          <a:lstStyle/>
          <a:p>
            <a:pPr indent="-228600">
              <a:buFont typeface="Arial" panose="020B0604020202020204" pitchFamily="34" charset="0"/>
              <a:buChar char="•"/>
            </a:pPr>
            <a:r>
              <a:rPr lang="en-US" sz="1800" dirty="0"/>
              <a:t>The worm is an unusually complex program. </a:t>
            </a:r>
          </a:p>
          <a:p>
            <a:pPr indent="-228600">
              <a:buFont typeface="Arial" panose="020B0604020202020204" pitchFamily="34" charset="0"/>
              <a:buChar char="•"/>
            </a:pPr>
            <a:r>
              <a:rPr lang="en-US" sz="1800" dirty="0"/>
              <a:t>Likely took a team of very experienced individuals to develop such a complicated program. </a:t>
            </a:r>
          </a:p>
          <a:p>
            <a:pPr indent="-228600">
              <a:buFont typeface="Arial" panose="020B0604020202020204" pitchFamily="34" charset="0"/>
              <a:buChar char="•"/>
            </a:pPr>
            <a:r>
              <a:rPr lang="en-US" sz="1800" dirty="0"/>
              <a:t>It specifically targets programmable logic controllers using zero-day flaws and focuses on Microsoft operating systems and Siemens Step 7 software (</a:t>
            </a:r>
            <a:r>
              <a:rPr lang="en-US" sz="1800" dirty="0" err="1"/>
              <a:t>Zetter</a:t>
            </a:r>
            <a:r>
              <a:rPr lang="en-US" sz="1800" dirty="0"/>
              <a:t>, 2015).</a:t>
            </a:r>
          </a:p>
          <a:p>
            <a:pPr indent="-228600">
              <a:buFont typeface="Arial" panose="020B0604020202020204" pitchFamily="34" charset="0"/>
              <a:buChar char="•"/>
            </a:pPr>
            <a:r>
              <a:rPr lang="en-US" sz="1800" dirty="0"/>
              <a:t>Programmed to remain undetected by traditional means.</a:t>
            </a:r>
          </a:p>
        </p:txBody>
      </p:sp>
      <p:sp>
        <p:nvSpPr>
          <p:cNvPr id="19" name="Rectangle 18">
            <a:extLst>
              <a:ext uri="{FF2B5EF4-FFF2-40B4-BE49-F238E27FC236}">
                <a16:creationId xmlns:a16="http://schemas.microsoft.com/office/drawing/2014/main" id="{F2B38F72-8FC4-4001-8C67-FA6B86DEC7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2"/>
            <a:ext cx="7555992" cy="68579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Placeholder 4" descr="A screenshot of a cell phone&#10;&#10;Description automatically generated">
            <a:extLst>
              <a:ext uri="{FF2B5EF4-FFF2-40B4-BE49-F238E27FC236}">
                <a16:creationId xmlns:a16="http://schemas.microsoft.com/office/drawing/2014/main" id="{7175CAA8-E562-4792-8C15-9877105E6090}"/>
              </a:ext>
            </a:extLst>
          </p:cNvPr>
          <p:cNvPicPr>
            <a:picLocks noGrp="1" noChangeAspect="1"/>
          </p:cNvPicPr>
          <p:nvPr>
            <p:ph type="pic" idx="1"/>
          </p:nvPr>
        </p:nvPicPr>
        <p:blipFill>
          <a:blip r:embed="rId4">
            <a:extLst>
              <a:ext uri="{28A0092B-C50C-407E-A947-70E740481C1C}">
                <a14:useLocalDpi xmlns:a14="http://schemas.microsoft.com/office/drawing/2010/main" val="0"/>
              </a:ext>
            </a:extLst>
          </a:blip>
          <a:srcRect l="2508" r="2508"/>
          <a:stretch>
            <a:fillRect/>
          </a:stretch>
        </p:blipFill>
        <p:spPr/>
      </p:pic>
    </p:spTree>
    <p:extLst>
      <p:ext uri="{BB962C8B-B14F-4D97-AF65-F5344CB8AC3E}">
        <p14:creationId xmlns:p14="http://schemas.microsoft.com/office/powerpoint/2010/main" val="2386165633"/>
      </p:ext>
    </p:extLst>
  </p:cSld>
  <p:clrMapOvr>
    <a:overrideClrMapping bg1="dk1" tx1="lt1" bg2="dk2" tx2="lt2" accent1="accent1" accent2="accent2" accent3="accent3" accent4="accent4" accent5="accent5" accent6="accent6" hlink="hlink" folHlink="folHlink"/>
  </p:clrMapOvr>
  <p:transition spd="slow">
    <p:wipe/>
    <p:sndAc>
      <p:stSnd>
        <p:snd r:embed="rId3" name="arrow.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1DE23F2-AC00-477C-8B90-7C509911E633}"/>
              </a:ext>
            </a:extLst>
          </p:cNvPr>
          <p:cNvSpPr>
            <a:spLocks noGrp="1"/>
          </p:cNvSpPr>
          <p:nvPr>
            <p:ph type="title"/>
          </p:nvPr>
        </p:nvSpPr>
        <p:spPr>
          <a:xfrm>
            <a:off x="481013" y="3752849"/>
            <a:ext cx="3290887" cy="2452687"/>
          </a:xfrm>
        </p:spPr>
        <p:txBody>
          <a:bodyPr vert="horz" lIns="91440" tIns="45720" rIns="91440" bIns="45720" rtlCol="0" anchor="ctr">
            <a:normAutofit/>
          </a:bodyPr>
          <a:lstStyle/>
          <a:p>
            <a:r>
              <a:rPr lang="en-US" sz="3600" dirty="0"/>
              <a:t>Who was involved?</a:t>
            </a:r>
          </a:p>
        </p:txBody>
      </p:sp>
      <p:pic>
        <p:nvPicPr>
          <p:cNvPr id="5" name="Picture Placeholder 4" descr="A picture containing drawing&#10;&#10;Description automatically generated">
            <a:extLst>
              <a:ext uri="{FF2B5EF4-FFF2-40B4-BE49-F238E27FC236}">
                <a16:creationId xmlns:a16="http://schemas.microsoft.com/office/drawing/2014/main" id="{979A1D19-A4AC-4CC7-A80A-8349DDA5B297}"/>
              </a:ext>
            </a:extLst>
          </p:cNvPr>
          <p:cNvPicPr>
            <a:picLocks noGrp="1" noChangeAspect="1"/>
          </p:cNvPicPr>
          <p:nvPr>
            <p:ph type="pic" idx="1"/>
          </p:nvPr>
        </p:nvPicPr>
        <p:blipFill rotWithShape="1">
          <a:blip r:embed="rId4">
            <a:extLst>
              <a:ext uri="{28A0092B-C50C-407E-A947-70E740481C1C}">
                <a14:useLocalDpi xmlns:a14="http://schemas.microsoft.com/office/drawing/2010/main" val="0"/>
              </a:ext>
            </a:extLst>
          </a:blip>
          <a:srcRect t="19565" b="19565"/>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11" name="Text Placeholder 10">
            <a:extLst>
              <a:ext uri="{FF2B5EF4-FFF2-40B4-BE49-F238E27FC236}">
                <a16:creationId xmlns:a16="http://schemas.microsoft.com/office/drawing/2014/main" id="{EDB90C39-237D-4519-9C7C-B61D78D07F37}"/>
              </a:ext>
            </a:extLst>
          </p:cNvPr>
          <p:cNvSpPr>
            <a:spLocks noGrp="1"/>
          </p:cNvSpPr>
          <p:nvPr>
            <p:ph type="body" sz="half" idx="2"/>
          </p:nvPr>
        </p:nvSpPr>
        <p:spPr>
          <a:xfrm>
            <a:off x="4225574" y="3752849"/>
            <a:ext cx="7485413" cy="2972804"/>
          </a:xfrm>
        </p:spPr>
        <p:txBody>
          <a:bodyPr vert="horz" lIns="91440" tIns="45720" rIns="91440" bIns="45720" rtlCol="0" anchor="ctr">
            <a:normAutofit fontScale="92500" lnSpcReduction="10000"/>
          </a:bodyPr>
          <a:lstStyle/>
          <a:p>
            <a:pPr indent="-228600">
              <a:buFont typeface="Arial" panose="020B0604020202020204" pitchFamily="34" charset="0"/>
              <a:buChar char="•"/>
            </a:pPr>
            <a:r>
              <a:rPr lang="en-US" sz="1900" dirty="0"/>
              <a:t>No one has openly admitted to being involved in the attack or development of the worm. </a:t>
            </a:r>
          </a:p>
          <a:p>
            <a:pPr indent="-228600">
              <a:buFont typeface="Arial" panose="020B0604020202020204" pitchFamily="34" charset="0"/>
              <a:buChar char="•"/>
            </a:pPr>
            <a:r>
              <a:rPr lang="en-US" sz="1900" dirty="0"/>
              <a:t>However, it is widely accepted that Stuxnet  was developed by the United States and Israel (</a:t>
            </a:r>
            <a:r>
              <a:rPr lang="en-US" sz="1900" dirty="0" err="1"/>
              <a:t>Zetter</a:t>
            </a:r>
            <a:r>
              <a:rPr lang="en-US" sz="1900" dirty="0"/>
              <a:t>, 2015).</a:t>
            </a:r>
          </a:p>
          <a:p>
            <a:pPr indent="-228600">
              <a:buFont typeface="Arial" panose="020B0604020202020204" pitchFamily="34" charset="0"/>
              <a:buChar char="•"/>
            </a:pPr>
            <a:r>
              <a:rPr lang="en-US" sz="1900" dirty="0"/>
              <a:t>Developed under the code name “Operation Olympic Games”. Development took place between at least two US presidents. </a:t>
            </a:r>
          </a:p>
          <a:p>
            <a:pPr indent="-228600">
              <a:buFont typeface="Arial" panose="020B0604020202020204" pitchFamily="34" charset="0"/>
              <a:buChar char="•"/>
            </a:pPr>
            <a:r>
              <a:rPr lang="en-US" sz="1900" dirty="0"/>
              <a:t>Individual software engineers have never been identified. Although many believe it was at least a small group.</a:t>
            </a:r>
          </a:p>
          <a:p>
            <a:pPr indent="-228600">
              <a:buFont typeface="Arial" panose="020B0604020202020204" pitchFamily="34" charset="0"/>
              <a:buChar char="•"/>
            </a:pPr>
            <a:r>
              <a:rPr lang="en-US" sz="1900" dirty="0"/>
              <a:t>Involvement of intelligence agencies such as the NSA and Israel's Unit 8200 has been suggested (Wired, 2011).</a:t>
            </a:r>
          </a:p>
          <a:p>
            <a:pPr indent="-228600">
              <a:buFont typeface="Arial" panose="020B0604020202020204" pitchFamily="34" charset="0"/>
              <a:buChar char="•"/>
            </a:pPr>
            <a:endParaRPr lang="en-US" sz="1800" dirty="0"/>
          </a:p>
        </p:txBody>
      </p:sp>
    </p:spTree>
    <p:extLst>
      <p:ext uri="{BB962C8B-B14F-4D97-AF65-F5344CB8AC3E}">
        <p14:creationId xmlns:p14="http://schemas.microsoft.com/office/powerpoint/2010/main" val="368465538"/>
      </p:ext>
    </p:extLst>
  </p:cSld>
  <p:clrMapOvr>
    <a:masterClrMapping/>
  </p:clrMapOvr>
  <p:transition spd="slow">
    <p:wipe/>
    <p:sndAc>
      <p:stSnd>
        <p:snd r:embed="rId3" name="arrow.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4" descr="A picture containing drawing&#10;&#10;Description automatically generated">
            <a:extLst>
              <a:ext uri="{FF2B5EF4-FFF2-40B4-BE49-F238E27FC236}">
                <a16:creationId xmlns:a16="http://schemas.microsoft.com/office/drawing/2014/main" id="{979A1D19-A4AC-4CC7-A80A-8349DDA5B297}"/>
              </a:ext>
            </a:extLst>
          </p:cNvPr>
          <p:cNvPicPr>
            <a:picLocks noGrp="1" noChangeAspect="1"/>
          </p:cNvPicPr>
          <p:nvPr>
            <p:ph type="pic" idx="1"/>
          </p:nvPr>
        </p:nvPicPr>
        <p:blipFill rotWithShape="1">
          <a:blip r:embed="rId4">
            <a:extLst>
              <a:ext uri="{28A0092B-C50C-407E-A947-70E740481C1C}">
                <a14:useLocalDpi xmlns:a14="http://schemas.microsoft.com/office/drawing/2010/main" val="0"/>
              </a:ext>
            </a:extLst>
          </a:blip>
          <a:srcRect l="286" t="9091" r="18906"/>
          <a:stretch/>
        </p:blipFill>
        <p:spPr>
          <a:xfrm>
            <a:off x="20" y="10"/>
            <a:ext cx="12191980" cy="6857990"/>
          </a:xfrm>
          <a:prstGeom prst="rect">
            <a:avLst/>
          </a:prstGeom>
        </p:spPr>
      </p:pic>
      <p:sp>
        <p:nvSpPr>
          <p:cNvPr id="18" name="Rectangle 15">
            <a:extLst>
              <a:ext uri="{FF2B5EF4-FFF2-40B4-BE49-F238E27FC236}">
                <a16:creationId xmlns:a16="http://schemas.microsoft.com/office/drawing/2014/main" id="{2B1D4F77-A17C-43D7-B7FA-545148E4E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6"/>
            <a:ext cx="4332307"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31DE23F2-AC00-477C-8B90-7C509911E633}"/>
              </a:ext>
            </a:extLst>
          </p:cNvPr>
          <p:cNvSpPr>
            <a:spLocks noGrp="1"/>
          </p:cNvSpPr>
          <p:nvPr>
            <p:ph type="title"/>
          </p:nvPr>
        </p:nvSpPr>
        <p:spPr>
          <a:xfrm>
            <a:off x="594805" y="640263"/>
            <a:ext cx="3759240" cy="1344975"/>
          </a:xfrm>
        </p:spPr>
        <p:txBody>
          <a:bodyPr vert="horz" lIns="91440" tIns="45720" rIns="91440" bIns="45720" rtlCol="0" anchor="ctr">
            <a:normAutofit/>
          </a:bodyPr>
          <a:lstStyle/>
          <a:p>
            <a:r>
              <a:rPr lang="en-US" sz="2800"/>
              <a:t>Why was this attack developed and carried out?</a:t>
            </a:r>
          </a:p>
        </p:txBody>
      </p:sp>
      <p:sp>
        <p:nvSpPr>
          <p:cNvPr id="11" name="Text Placeholder 10">
            <a:extLst>
              <a:ext uri="{FF2B5EF4-FFF2-40B4-BE49-F238E27FC236}">
                <a16:creationId xmlns:a16="http://schemas.microsoft.com/office/drawing/2014/main" id="{EDB90C39-237D-4519-9C7C-B61D78D07F37}"/>
              </a:ext>
            </a:extLst>
          </p:cNvPr>
          <p:cNvSpPr>
            <a:spLocks noGrp="1"/>
          </p:cNvSpPr>
          <p:nvPr>
            <p:ph type="body" sz="half" idx="2"/>
          </p:nvPr>
        </p:nvSpPr>
        <p:spPr>
          <a:xfrm>
            <a:off x="594110" y="2121763"/>
            <a:ext cx="3764826" cy="3773010"/>
          </a:xfrm>
        </p:spPr>
        <p:txBody>
          <a:bodyPr vert="horz" lIns="91440" tIns="45720" rIns="91440" bIns="45720" rtlCol="0">
            <a:normAutofit/>
          </a:bodyPr>
          <a:lstStyle/>
          <a:p>
            <a:pPr indent="-228600">
              <a:buFont typeface="Arial" panose="020B0604020202020204" pitchFamily="34" charset="0"/>
              <a:buChar char="•"/>
            </a:pPr>
            <a:r>
              <a:rPr lang="en-US" sz="1800" dirty="0"/>
              <a:t>Iran was believed to be in the early stages of acquiring materials to build nuclear weapons (Reuters, 2021).</a:t>
            </a:r>
          </a:p>
          <a:p>
            <a:pPr indent="-228600">
              <a:buFont typeface="Arial" panose="020B0604020202020204" pitchFamily="34" charset="0"/>
              <a:buChar char="•"/>
            </a:pPr>
            <a:r>
              <a:rPr lang="en-US" sz="1800" dirty="0"/>
              <a:t> Other counties have sought to prevent the spread of Nuclear Proliferation.</a:t>
            </a:r>
          </a:p>
          <a:p>
            <a:pPr indent="-228600">
              <a:buFont typeface="Arial" panose="020B0604020202020204" pitchFamily="34" charset="0"/>
              <a:buChar char="•"/>
            </a:pPr>
            <a:r>
              <a:rPr lang="en-US" sz="1800" dirty="0"/>
              <a:t>Iran had made many political threats in the past towards the United States and her allies.</a:t>
            </a:r>
          </a:p>
          <a:p>
            <a:pPr indent="-228600">
              <a:buFont typeface="Arial" panose="020B0604020202020204" pitchFamily="34" charset="0"/>
              <a:buChar char="•"/>
            </a:pPr>
            <a:r>
              <a:rPr lang="en-US" sz="1800" dirty="0"/>
              <a:t>Iran had also violated treaties regarding nuclear enrichment (Wikipedia, 2020).</a:t>
            </a:r>
          </a:p>
        </p:txBody>
      </p:sp>
    </p:spTree>
    <p:extLst>
      <p:ext uri="{BB962C8B-B14F-4D97-AF65-F5344CB8AC3E}">
        <p14:creationId xmlns:p14="http://schemas.microsoft.com/office/powerpoint/2010/main" val="4143546071"/>
      </p:ext>
    </p:extLst>
  </p:cSld>
  <p:clrMapOvr>
    <a:masterClrMapping/>
  </p:clrMapOvr>
  <p:transition spd="slow">
    <p:wipe/>
    <p:sndAc>
      <p:stSnd>
        <p:snd r:embed="rId3" name="arrow.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Placeholder 4" descr="A picture containing drawing&#10;&#10;Description automatically generated">
            <a:extLst>
              <a:ext uri="{FF2B5EF4-FFF2-40B4-BE49-F238E27FC236}">
                <a16:creationId xmlns:a16="http://schemas.microsoft.com/office/drawing/2014/main" id="{979A1D19-A4AC-4CC7-A80A-8349DDA5B297}"/>
              </a:ext>
            </a:extLst>
          </p:cNvPr>
          <p:cNvPicPr>
            <a:picLocks noGrp="1" noChangeAspect="1"/>
          </p:cNvPicPr>
          <p:nvPr>
            <p:ph type="pic" idx="1"/>
          </p:nvPr>
        </p:nvPicPr>
        <p:blipFill rotWithShape="1">
          <a:blip r:embed="rId4">
            <a:extLst>
              <a:ext uri="{28A0092B-C50C-407E-A947-70E740481C1C}">
                <a14:useLocalDpi xmlns:a14="http://schemas.microsoft.com/office/drawing/2010/main" val="0"/>
              </a:ext>
            </a:extLst>
          </a:blip>
          <a:srcRect l="9391" r="1720"/>
          <a:stretch/>
        </p:blipFill>
        <p:spPr>
          <a:xfrm>
            <a:off x="20" y="10"/>
            <a:ext cx="12191980" cy="6857990"/>
          </a:xfrm>
          <a:prstGeom prst="rect">
            <a:avLst/>
          </a:prstGeom>
        </p:spPr>
      </p:pic>
      <p:sp>
        <p:nvSpPr>
          <p:cNvPr id="25" name="Freeform: Shape 24">
            <a:extLst>
              <a:ext uri="{FF2B5EF4-FFF2-40B4-BE49-F238E27FC236}">
                <a16:creationId xmlns:a16="http://schemas.microsoft.com/office/drawing/2014/main" id="{662A3FAA-D056-4098-8115-EA61EAF06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7645" y="839534"/>
            <a:ext cx="6781601" cy="5652388"/>
          </a:xfrm>
          <a:custGeom>
            <a:avLst/>
            <a:gdLst>
              <a:gd name="connsiteX0" fmla="*/ 2768595 w 4574113"/>
              <a:gd name="connsiteY0" fmla="*/ 2476119 h 3812472"/>
              <a:gd name="connsiteX1" fmla="*/ 3374676 w 4574113"/>
              <a:gd name="connsiteY1" fmla="*/ 2476119 h 3812472"/>
              <a:gd name="connsiteX2" fmla="*/ 3403209 w 4574113"/>
              <a:gd name="connsiteY2" fmla="*/ 2479909 h 3812472"/>
              <a:gd name="connsiteX3" fmla="*/ 3422833 w 4574113"/>
              <a:gd name="connsiteY3" fmla="*/ 2488137 h 3812472"/>
              <a:gd name="connsiteX4" fmla="*/ 3410840 w 4574113"/>
              <a:gd name="connsiteY4" fmla="*/ 2508879 h 3812472"/>
              <a:gd name="connsiteX5" fmla="*/ 2985934 w 4574113"/>
              <a:gd name="connsiteY5" fmla="*/ 3243764 h 3812472"/>
              <a:gd name="connsiteX6" fmla="*/ 2732784 w 4574113"/>
              <a:gd name="connsiteY6" fmla="*/ 3390890 h 3812472"/>
              <a:gd name="connsiteX7" fmla="*/ 2529297 w 4574113"/>
              <a:gd name="connsiteY7" fmla="*/ 3390890 h 3812472"/>
              <a:gd name="connsiteX8" fmla="*/ 2505559 w 4574113"/>
              <a:gd name="connsiteY8" fmla="*/ 3390890 h 3812472"/>
              <a:gd name="connsiteX9" fmla="*/ 2482907 w 4574113"/>
              <a:gd name="connsiteY9" fmla="*/ 3351884 h 3812472"/>
              <a:gd name="connsiteX10" fmla="*/ 2371959 w 4574113"/>
              <a:gd name="connsiteY10" fmla="*/ 3160822 h 3812472"/>
              <a:gd name="connsiteX11" fmla="*/ 2371959 w 4574113"/>
              <a:gd name="connsiteY11" fmla="*/ 3053878 h 3812472"/>
              <a:gd name="connsiteX12" fmla="*/ 2675654 w 4574113"/>
              <a:gd name="connsiteY12" fmla="*/ 2530895 h 3812472"/>
              <a:gd name="connsiteX13" fmla="*/ 2768595 w 4574113"/>
              <a:gd name="connsiteY13" fmla="*/ 2476119 h 3812472"/>
              <a:gd name="connsiteX14" fmla="*/ 3909778 w 4574113"/>
              <a:gd name="connsiteY14" fmla="*/ 676847 h 3812472"/>
              <a:gd name="connsiteX15" fmla="*/ 4305516 w 4574113"/>
              <a:gd name="connsiteY15" fmla="*/ 676847 h 3812472"/>
              <a:gd name="connsiteX16" fmla="*/ 4367056 w 4574113"/>
              <a:gd name="connsiteY16" fmla="*/ 712612 h 3812472"/>
              <a:gd name="connsiteX17" fmla="*/ 4564498 w 4574113"/>
              <a:gd name="connsiteY17" fmla="*/ 1054092 h 3812472"/>
              <a:gd name="connsiteX18" fmla="*/ 4564498 w 4574113"/>
              <a:gd name="connsiteY18" fmla="*/ 1123921 h 3812472"/>
              <a:gd name="connsiteX19" fmla="*/ 4367056 w 4574113"/>
              <a:gd name="connsiteY19" fmla="*/ 1465401 h 3812472"/>
              <a:gd name="connsiteX20" fmla="*/ 4305516 w 4574113"/>
              <a:gd name="connsiteY20" fmla="*/ 1501167 h 3812472"/>
              <a:gd name="connsiteX21" fmla="*/ 3909778 w 4574113"/>
              <a:gd name="connsiteY21" fmla="*/ 1501167 h 3812472"/>
              <a:gd name="connsiteX22" fmla="*/ 3849091 w 4574113"/>
              <a:gd name="connsiteY22" fmla="*/ 1465401 h 3812472"/>
              <a:gd name="connsiteX23" fmla="*/ 3650795 w 4574113"/>
              <a:gd name="connsiteY23" fmla="*/ 1123921 h 3812472"/>
              <a:gd name="connsiteX24" fmla="*/ 3650795 w 4574113"/>
              <a:gd name="connsiteY24" fmla="*/ 1054092 h 3812472"/>
              <a:gd name="connsiteX25" fmla="*/ 3849091 w 4574113"/>
              <a:gd name="connsiteY25" fmla="*/ 712612 h 3812472"/>
              <a:gd name="connsiteX26" fmla="*/ 3909778 w 4574113"/>
              <a:gd name="connsiteY26" fmla="*/ 676847 h 3812472"/>
              <a:gd name="connsiteX27" fmla="*/ 1104892 w 4574113"/>
              <a:gd name="connsiteY27" fmla="*/ 0 h 3812472"/>
              <a:gd name="connsiteX28" fmla="*/ 2732784 w 4574113"/>
              <a:gd name="connsiteY28" fmla="*/ 0 h 3812472"/>
              <a:gd name="connsiteX29" fmla="*/ 2985934 w 4574113"/>
              <a:gd name="connsiteY29" fmla="*/ 147125 h 3812472"/>
              <a:gd name="connsiteX30" fmla="*/ 3798122 w 4574113"/>
              <a:gd name="connsiteY30" fmla="*/ 1551823 h 3812472"/>
              <a:gd name="connsiteX31" fmla="*/ 3798122 w 4574113"/>
              <a:gd name="connsiteY31" fmla="*/ 1839068 h 3812472"/>
              <a:gd name="connsiteX32" fmla="*/ 3496551 w 4574113"/>
              <a:gd name="connsiteY32" fmla="*/ 2360642 h 3812472"/>
              <a:gd name="connsiteX33" fmla="*/ 3471135 w 4574113"/>
              <a:gd name="connsiteY33" fmla="*/ 2404597 h 3812472"/>
              <a:gd name="connsiteX34" fmla="*/ 3472029 w 4574113"/>
              <a:gd name="connsiteY34" fmla="*/ 2404972 h 3812472"/>
              <a:gd name="connsiteX35" fmla="*/ 3516881 w 4574113"/>
              <a:gd name="connsiteY35" fmla="*/ 2450209 h 3812472"/>
              <a:gd name="connsiteX36" fmla="*/ 3857970 w 4574113"/>
              <a:gd name="connsiteY36" fmla="*/ 3040131 h 3812472"/>
              <a:gd name="connsiteX37" fmla="*/ 3857970 w 4574113"/>
              <a:gd name="connsiteY37" fmla="*/ 3160764 h 3812472"/>
              <a:gd name="connsiteX38" fmla="*/ 3516881 w 4574113"/>
              <a:gd name="connsiteY38" fmla="*/ 3750684 h 3812472"/>
              <a:gd name="connsiteX39" fmla="*/ 3410567 w 4574113"/>
              <a:gd name="connsiteY39" fmla="*/ 3812472 h 3812472"/>
              <a:gd name="connsiteX40" fmla="*/ 2726911 w 4574113"/>
              <a:gd name="connsiteY40" fmla="*/ 3812472 h 3812472"/>
              <a:gd name="connsiteX41" fmla="*/ 2622074 w 4574113"/>
              <a:gd name="connsiteY41" fmla="*/ 3750684 h 3812472"/>
              <a:gd name="connsiteX42" fmla="*/ 2438330 w 4574113"/>
              <a:gd name="connsiteY42" fmla="*/ 3434265 h 3812472"/>
              <a:gd name="connsiteX43" fmla="*/ 2417573 w 4574113"/>
              <a:gd name="connsiteY43" fmla="*/ 3398519 h 3812472"/>
              <a:gd name="connsiteX44" fmla="*/ 2433905 w 4574113"/>
              <a:gd name="connsiteY44" fmla="*/ 3398519 h 3812472"/>
              <a:gd name="connsiteX45" fmla="*/ 2511101 w 4574113"/>
              <a:gd name="connsiteY45" fmla="*/ 3398519 h 3812472"/>
              <a:gd name="connsiteX46" fmla="*/ 2544636 w 4574113"/>
              <a:gd name="connsiteY46" fmla="*/ 3456269 h 3812472"/>
              <a:gd name="connsiteX47" fmla="*/ 2672757 w 4574113"/>
              <a:gd name="connsiteY47" fmla="*/ 3676902 h 3812472"/>
              <a:gd name="connsiteX48" fmla="*/ 2765699 w 4574113"/>
              <a:gd name="connsiteY48" fmla="*/ 3731679 h 3812472"/>
              <a:gd name="connsiteX49" fmla="*/ 3371780 w 4574113"/>
              <a:gd name="connsiteY49" fmla="*/ 3731679 h 3812472"/>
              <a:gd name="connsiteX50" fmla="*/ 3466029 w 4574113"/>
              <a:gd name="connsiteY50" fmla="*/ 3676902 h 3812472"/>
              <a:gd name="connsiteX51" fmla="*/ 3768415 w 4574113"/>
              <a:gd name="connsiteY51" fmla="*/ 3153920 h 3812472"/>
              <a:gd name="connsiteX52" fmla="*/ 3768415 w 4574113"/>
              <a:gd name="connsiteY52" fmla="*/ 3046975 h 3812472"/>
              <a:gd name="connsiteX53" fmla="*/ 3466029 w 4574113"/>
              <a:gd name="connsiteY53" fmla="*/ 2523992 h 3812472"/>
              <a:gd name="connsiteX54" fmla="*/ 3426268 w 4574113"/>
              <a:gd name="connsiteY54" fmla="*/ 2483888 h 3812472"/>
              <a:gd name="connsiteX55" fmla="*/ 3421667 w 4574113"/>
              <a:gd name="connsiteY55" fmla="*/ 2481960 h 3812472"/>
              <a:gd name="connsiteX56" fmla="*/ 3446331 w 4574113"/>
              <a:gd name="connsiteY56" fmla="*/ 2439303 h 3812472"/>
              <a:gd name="connsiteX57" fmla="*/ 3464674 w 4574113"/>
              <a:gd name="connsiteY57" fmla="*/ 2407578 h 3812472"/>
              <a:gd name="connsiteX58" fmla="*/ 3445649 w 4574113"/>
              <a:gd name="connsiteY58" fmla="*/ 2399601 h 3812472"/>
              <a:gd name="connsiteX59" fmla="*/ 3413464 w 4574113"/>
              <a:gd name="connsiteY59" fmla="*/ 2395325 h 3812472"/>
              <a:gd name="connsiteX60" fmla="*/ 2729808 w 4574113"/>
              <a:gd name="connsiteY60" fmla="*/ 2395325 h 3812472"/>
              <a:gd name="connsiteX61" fmla="*/ 2624971 w 4574113"/>
              <a:gd name="connsiteY61" fmla="*/ 2457112 h 3812472"/>
              <a:gd name="connsiteX62" fmla="*/ 2282405 w 4574113"/>
              <a:gd name="connsiteY62" fmla="*/ 3047034 h 3812472"/>
              <a:gd name="connsiteX63" fmla="*/ 2282405 w 4574113"/>
              <a:gd name="connsiteY63" fmla="*/ 3167666 h 3812472"/>
              <a:gd name="connsiteX64" fmla="*/ 2395478 w 4574113"/>
              <a:gd name="connsiteY64" fmla="*/ 3362386 h 3812472"/>
              <a:gd name="connsiteX65" fmla="*/ 2412031 w 4574113"/>
              <a:gd name="connsiteY65" fmla="*/ 3390890 h 3812472"/>
              <a:gd name="connsiteX66" fmla="*/ 2335350 w 4574113"/>
              <a:gd name="connsiteY66" fmla="*/ 3390890 h 3812472"/>
              <a:gd name="connsiteX67" fmla="*/ 1104892 w 4574113"/>
              <a:gd name="connsiteY67" fmla="*/ 3390890 h 3812472"/>
              <a:gd name="connsiteX68" fmla="*/ 855258 w 4574113"/>
              <a:gd name="connsiteY68" fmla="*/ 3243764 h 3812472"/>
              <a:gd name="connsiteX69" fmla="*/ 39555 w 4574113"/>
              <a:gd name="connsiteY69" fmla="*/ 1839068 h 3812472"/>
              <a:gd name="connsiteX70" fmla="*/ 39555 w 4574113"/>
              <a:gd name="connsiteY70" fmla="*/ 1551823 h 3812472"/>
              <a:gd name="connsiteX71" fmla="*/ 855258 w 4574113"/>
              <a:gd name="connsiteY71" fmla="*/ 147125 h 3812472"/>
              <a:gd name="connsiteX72" fmla="*/ 1104892 w 4574113"/>
              <a:gd name="connsiteY72" fmla="*/ 0 h 3812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4574113" h="3812472">
                <a:moveTo>
                  <a:pt x="2768595" y="2476119"/>
                </a:moveTo>
                <a:cubicBezTo>
                  <a:pt x="2768595" y="2476119"/>
                  <a:pt x="2768595" y="2476119"/>
                  <a:pt x="3374676" y="2476119"/>
                </a:cubicBezTo>
                <a:cubicBezTo>
                  <a:pt x="3384493" y="2476119"/>
                  <a:pt x="3394066" y="2477423"/>
                  <a:pt x="3403209" y="2479909"/>
                </a:cubicBezTo>
                <a:lnTo>
                  <a:pt x="3422833" y="2488137"/>
                </a:lnTo>
                <a:lnTo>
                  <a:pt x="3410840" y="2508879"/>
                </a:lnTo>
                <a:cubicBezTo>
                  <a:pt x="3302401" y="2696426"/>
                  <a:pt x="3163600" y="2936487"/>
                  <a:pt x="2985934" y="3243764"/>
                </a:cubicBezTo>
                <a:cubicBezTo>
                  <a:pt x="2933195" y="3334842"/>
                  <a:pt x="2838263" y="3390890"/>
                  <a:pt x="2732784" y="3390890"/>
                </a:cubicBezTo>
                <a:cubicBezTo>
                  <a:pt x="2732784" y="3390890"/>
                  <a:pt x="2732784" y="3390890"/>
                  <a:pt x="2529297" y="3390890"/>
                </a:cubicBezTo>
                <a:lnTo>
                  <a:pt x="2505559" y="3390890"/>
                </a:lnTo>
                <a:lnTo>
                  <a:pt x="2482907" y="3351884"/>
                </a:lnTo>
                <a:cubicBezTo>
                  <a:pt x="2451367" y="3297569"/>
                  <a:pt x="2414666" y="3234367"/>
                  <a:pt x="2371959" y="3160822"/>
                </a:cubicBezTo>
                <a:cubicBezTo>
                  <a:pt x="2352324" y="3128217"/>
                  <a:pt x="2352324" y="3086483"/>
                  <a:pt x="2371959" y="3053878"/>
                </a:cubicBezTo>
                <a:cubicBezTo>
                  <a:pt x="2371959" y="3053878"/>
                  <a:pt x="2371959" y="3053878"/>
                  <a:pt x="2675654" y="2530895"/>
                </a:cubicBezTo>
                <a:cubicBezTo>
                  <a:pt x="2693981" y="2496986"/>
                  <a:pt x="2730633" y="2476119"/>
                  <a:pt x="2768595" y="2476119"/>
                </a:cubicBezTo>
                <a:close/>
                <a:moveTo>
                  <a:pt x="3909778" y="676847"/>
                </a:moveTo>
                <a:cubicBezTo>
                  <a:pt x="3909778" y="676847"/>
                  <a:pt x="3909778" y="676847"/>
                  <a:pt x="4305516" y="676847"/>
                </a:cubicBezTo>
                <a:cubicBezTo>
                  <a:pt x="4331158" y="676847"/>
                  <a:pt x="4354235" y="690472"/>
                  <a:pt x="4367056" y="712612"/>
                </a:cubicBezTo>
                <a:cubicBezTo>
                  <a:pt x="4367056" y="712612"/>
                  <a:pt x="4367056" y="712612"/>
                  <a:pt x="4564498" y="1054092"/>
                </a:cubicBezTo>
                <a:cubicBezTo>
                  <a:pt x="4577319" y="1075382"/>
                  <a:pt x="4577319" y="1102632"/>
                  <a:pt x="4564498" y="1123921"/>
                </a:cubicBezTo>
                <a:cubicBezTo>
                  <a:pt x="4564498" y="1123921"/>
                  <a:pt x="4564498" y="1123921"/>
                  <a:pt x="4367056" y="1465401"/>
                </a:cubicBezTo>
                <a:cubicBezTo>
                  <a:pt x="4354235" y="1487542"/>
                  <a:pt x="4331158" y="1501167"/>
                  <a:pt x="4305516" y="1501167"/>
                </a:cubicBezTo>
                <a:cubicBezTo>
                  <a:pt x="4305516" y="1501167"/>
                  <a:pt x="4305516" y="1501167"/>
                  <a:pt x="3909778" y="1501167"/>
                </a:cubicBezTo>
                <a:cubicBezTo>
                  <a:pt x="3884990" y="1501167"/>
                  <a:pt x="3861058" y="1487542"/>
                  <a:pt x="3849091" y="1465401"/>
                </a:cubicBezTo>
                <a:cubicBezTo>
                  <a:pt x="3849091" y="1465401"/>
                  <a:pt x="3849091" y="1465401"/>
                  <a:pt x="3650795" y="1123921"/>
                </a:cubicBezTo>
                <a:cubicBezTo>
                  <a:pt x="3637974" y="1102632"/>
                  <a:pt x="3637974" y="1075382"/>
                  <a:pt x="3650795" y="1054092"/>
                </a:cubicBezTo>
                <a:cubicBezTo>
                  <a:pt x="3650795" y="1054092"/>
                  <a:pt x="3650795" y="1054092"/>
                  <a:pt x="3849091" y="712612"/>
                </a:cubicBezTo>
                <a:cubicBezTo>
                  <a:pt x="3861058" y="690472"/>
                  <a:pt x="3884990" y="676847"/>
                  <a:pt x="3909778" y="676847"/>
                </a:cubicBezTo>
                <a:close/>
                <a:moveTo>
                  <a:pt x="1104892" y="0"/>
                </a:moveTo>
                <a:cubicBezTo>
                  <a:pt x="1104892" y="0"/>
                  <a:pt x="1104892" y="0"/>
                  <a:pt x="2732784" y="0"/>
                </a:cubicBezTo>
                <a:cubicBezTo>
                  <a:pt x="2838263" y="0"/>
                  <a:pt x="2933195" y="56047"/>
                  <a:pt x="2985934" y="147125"/>
                </a:cubicBezTo>
                <a:cubicBezTo>
                  <a:pt x="2985934" y="147125"/>
                  <a:pt x="2985934" y="147125"/>
                  <a:pt x="3798122" y="1551823"/>
                </a:cubicBezTo>
                <a:cubicBezTo>
                  <a:pt x="3850862" y="1639397"/>
                  <a:pt x="3850862" y="1751493"/>
                  <a:pt x="3798122" y="1839068"/>
                </a:cubicBezTo>
                <a:cubicBezTo>
                  <a:pt x="3798122" y="1839068"/>
                  <a:pt x="3798122" y="1839068"/>
                  <a:pt x="3496551" y="2360642"/>
                </a:cubicBezTo>
                <a:lnTo>
                  <a:pt x="3471135" y="2404597"/>
                </a:lnTo>
                <a:lnTo>
                  <a:pt x="3472029" y="2404972"/>
                </a:lnTo>
                <a:cubicBezTo>
                  <a:pt x="3490302" y="2415638"/>
                  <a:pt x="3505806" y="2431084"/>
                  <a:pt x="3516881" y="2450209"/>
                </a:cubicBezTo>
                <a:cubicBezTo>
                  <a:pt x="3516881" y="2450209"/>
                  <a:pt x="3516881" y="2450209"/>
                  <a:pt x="3857970" y="3040131"/>
                </a:cubicBezTo>
                <a:cubicBezTo>
                  <a:pt x="3880120" y="3076909"/>
                  <a:pt x="3880120" y="3123985"/>
                  <a:pt x="3857970" y="3160764"/>
                </a:cubicBezTo>
                <a:cubicBezTo>
                  <a:pt x="3857970" y="3160764"/>
                  <a:pt x="3857970" y="3160764"/>
                  <a:pt x="3516881" y="3750684"/>
                </a:cubicBezTo>
                <a:cubicBezTo>
                  <a:pt x="3494732" y="3788933"/>
                  <a:pt x="3454864" y="3812472"/>
                  <a:pt x="3410567" y="3812472"/>
                </a:cubicBezTo>
                <a:cubicBezTo>
                  <a:pt x="3410567" y="3812472"/>
                  <a:pt x="3410567" y="3812472"/>
                  <a:pt x="2726911" y="3812472"/>
                </a:cubicBezTo>
                <a:cubicBezTo>
                  <a:pt x="2684090" y="3812472"/>
                  <a:pt x="2642747" y="3788933"/>
                  <a:pt x="2622074" y="3750684"/>
                </a:cubicBezTo>
                <a:cubicBezTo>
                  <a:pt x="2622074" y="3750684"/>
                  <a:pt x="2622074" y="3750684"/>
                  <a:pt x="2438330" y="3434265"/>
                </a:cubicBezTo>
                <a:lnTo>
                  <a:pt x="2417573" y="3398519"/>
                </a:lnTo>
                <a:lnTo>
                  <a:pt x="2433905" y="3398519"/>
                </a:lnTo>
                <a:lnTo>
                  <a:pt x="2511101" y="3398519"/>
                </a:lnTo>
                <a:lnTo>
                  <a:pt x="2544636" y="3456269"/>
                </a:lnTo>
                <a:cubicBezTo>
                  <a:pt x="2672757" y="3676902"/>
                  <a:pt x="2672757" y="3676902"/>
                  <a:pt x="2672757" y="3676902"/>
                </a:cubicBezTo>
                <a:cubicBezTo>
                  <a:pt x="2691084" y="3710811"/>
                  <a:pt x="2727737" y="3731679"/>
                  <a:pt x="2765699" y="3731679"/>
                </a:cubicBezTo>
                <a:cubicBezTo>
                  <a:pt x="3371780" y="3731679"/>
                  <a:pt x="3371780" y="3731679"/>
                  <a:pt x="3371780" y="3731679"/>
                </a:cubicBezTo>
                <a:cubicBezTo>
                  <a:pt x="3411050" y="3731679"/>
                  <a:pt x="3446394" y="3710811"/>
                  <a:pt x="3466029" y="3676902"/>
                </a:cubicBezTo>
                <a:cubicBezTo>
                  <a:pt x="3768415" y="3153920"/>
                  <a:pt x="3768415" y="3153920"/>
                  <a:pt x="3768415" y="3153920"/>
                </a:cubicBezTo>
                <a:cubicBezTo>
                  <a:pt x="3788051" y="3121314"/>
                  <a:pt x="3788051" y="3079580"/>
                  <a:pt x="3768415" y="3046975"/>
                </a:cubicBezTo>
                <a:cubicBezTo>
                  <a:pt x="3466029" y="2523992"/>
                  <a:pt x="3466029" y="2523992"/>
                  <a:pt x="3466029" y="2523992"/>
                </a:cubicBezTo>
                <a:cubicBezTo>
                  <a:pt x="3456211" y="2507037"/>
                  <a:pt x="3442467" y="2493343"/>
                  <a:pt x="3426268" y="2483888"/>
                </a:cubicBezTo>
                <a:lnTo>
                  <a:pt x="3421667" y="2481960"/>
                </a:lnTo>
                <a:lnTo>
                  <a:pt x="3446331" y="2439303"/>
                </a:lnTo>
                <a:lnTo>
                  <a:pt x="3464674" y="2407578"/>
                </a:lnTo>
                <a:lnTo>
                  <a:pt x="3445649" y="2399601"/>
                </a:lnTo>
                <a:cubicBezTo>
                  <a:pt x="3435335" y="2396796"/>
                  <a:pt x="3424538" y="2395325"/>
                  <a:pt x="3413464" y="2395325"/>
                </a:cubicBezTo>
                <a:cubicBezTo>
                  <a:pt x="2729808" y="2395325"/>
                  <a:pt x="2729808" y="2395325"/>
                  <a:pt x="2729808" y="2395325"/>
                </a:cubicBezTo>
                <a:cubicBezTo>
                  <a:pt x="2686987" y="2395325"/>
                  <a:pt x="2645644" y="2418863"/>
                  <a:pt x="2624971" y="2457112"/>
                </a:cubicBezTo>
                <a:cubicBezTo>
                  <a:pt x="2282405" y="3047034"/>
                  <a:pt x="2282405" y="3047034"/>
                  <a:pt x="2282405" y="3047034"/>
                </a:cubicBezTo>
                <a:cubicBezTo>
                  <a:pt x="2260256" y="3083811"/>
                  <a:pt x="2260256" y="3130887"/>
                  <a:pt x="2282405" y="3167666"/>
                </a:cubicBezTo>
                <a:cubicBezTo>
                  <a:pt x="2325225" y="3241406"/>
                  <a:pt x="2362693" y="3305929"/>
                  <a:pt x="2395478" y="3362386"/>
                </a:cubicBezTo>
                <a:lnTo>
                  <a:pt x="2412031" y="3390890"/>
                </a:lnTo>
                <a:lnTo>
                  <a:pt x="2335350" y="3390890"/>
                </a:lnTo>
                <a:cubicBezTo>
                  <a:pt x="2096889" y="3390890"/>
                  <a:pt x="1715352" y="3390890"/>
                  <a:pt x="1104892" y="3390890"/>
                </a:cubicBezTo>
                <a:cubicBezTo>
                  <a:pt x="1002929" y="3390890"/>
                  <a:pt x="904482" y="3334842"/>
                  <a:pt x="855258" y="3243764"/>
                </a:cubicBezTo>
                <a:cubicBezTo>
                  <a:pt x="855258" y="3243764"/>
                  <a:pt x="855258" y="3243764"/>
                  <a:pt x="39555" y="1839068"/>
                </a:cubicBezTo>
                <a:cubicBezTo>
                  <a:pt x="-13185" y="1751493"/>
                  <a:pt x="-13185" y="1639397"/>
                  <a:pt x="39555" y="1551823"/>
                </a:cubicBezTo>
                <a:cubicBezTo>
                  <a:pt x="39555" y="1551823"/>
                  <a:pt x="39555" y="1551823"/>
                  <a:pt x="855258" y="147125"/>
                </a:cubicBezTo>
                <a:cubicBezTo>
                  <a:pt x="904482" y="56047"/>
                  <a:pt x="1002929" y="0"/>
                  <a:pt x="1104892"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8">
            <a:extLst>
              <a:ext uri="{FF2B5EF4-FFF2-40B4-BE49-F238E27FC236}">
                <a16:creationId xmlns:a16="http://schemas.microsoft.com/office/drawing/2014/main" id="{31DE23F2-AC00-477C-8B90-7C509911E633}"/>
              </a:ext>
            </a:extLst>
          </p:cNvPr>
          <p:cNvSpPr>
            <a:spLocks noGrp="1"/>
          </p:cNvSpPr>
          <p:nvPr>
            <p:ph type="title"/>
          </p:nvPr>
        </p:nvSpPr>
        <p:spPr>
          <a:xfrm>
            <a:off x="6209383" y="1371600"/>
            <a:ext cx="3573440" cy="1180532"/>
          </a:xfrm>
        </p:spPr>
        <p:txBody>
          <a:bodyPr vert="horz" lIns="91440" tIns="45720" rIns="91440" bIns="45720" rtlCol="0" anchor="b">
            <a:normAutofit/>
          </a:bodyPr>
          <a:lstStyle/>
          <a:p>
            <a:r>
              <a:rPr lang="en-US" sz="3600" dirty="0">
                <a:solidFill>
                  <a:schemeClr val="bg1"/>
                </a:solidFill>
              </a:rPr>
              <a:t>When did this attack occur?</a:t>
            </a:r>
          </a:p>
        </p:txBody>
      </p:sp>
      <p:sp>
        <p:nvSpPr>
          <p:cNvPr id="11" name="Text Placeholder 10">
            <a:extLst>
              <a:ext uri="{FF2B5EF4-FFF2-40B4-BE49-F238E27FC236}">
                <a16:creationId xmlns:a16="http://schemas.microsoft.com/office/drawing/2014/main" id="{EDB90C39-237D-4519-9C7C-B61D78D07F37}"/>
              </a:ext>
            </a:extLst>
          </p:cNvPr>
          <p:cNvSpPr>
            <a:spLocks noGrp="1"/>
          </p:cNvSpPr>
          <p:nvPr>
            <p:ph type="body" sz="half" idx="2"/>
          </p:nvPr>
        </p:nvSpPr>
        <p:spPr>
          <a:xfrm>
            <a:off x="6209382" y="2621191"/>
            <a:ext cx="3894161" cy="1943985"/>
          </a:xfrm>
        </p:spPr>
        <p:txBody>
          <a:bodyPr vert="horz" lIns="91440" tIns="45720" rIns="91440" bIns="45720" rtlCol="0" anchor="t">
            <a:normAutofit/>
          </a:bodyPr>
          <a:lstStyle/>
          <a:p>
            <a:pPr indent="-228600">
              <a:buFont typeface="Arial" panose="020B0604020202020204" pitchFamily="34" charset="0"/>
              <a:buChar char="•"/>
            </a:pPr>
            <a:r>
              <a:rPr lang="en-US" sz="2800" dirty="0">
                <a:solidFill>
                  <a:schemeClr val="bg1"/>
                </a:solidFill>
              </a:rPr>
              <a:t>General consensus is that the attacks occurred between 2007-2010</a:t>
            </a:r>
          </a:p>
        </p:txBody>
      </p:sp>
    </p:spTree>
    <p:extLst>
      <p:ext uri="{BB962C8B-B14F-4D97-AF65-F5344CB8AC3E}">
        <p14:creationId xmlns:p14="http://schemas.microsoft.com/office/powerpoint/2010/main" val="100870012"/>
      </p:ext>
    </p:extLst>
  </p:cSld>
  <p:clrMapOvr>
    <a:masterClrMapping/>
  </p:clrMapOvr>
  <p:transition spd="slow">
    <p:wipe/>
    <p:sndAc>
      <p:stSnd>
        <p:snd r:embed="rId3" name="arrow.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1DE23F2-AC00-477C-8B90-7C509911E633}"/>
              </a:ext>
            </a:extLst>
          </p:cNvPr>
          <p:cNvSpPr>
            <a:spLocks noGrp="1"/>
          </p:cNvSpPr>
          <p:nvPr>
            <p:ph type="title"/>
          </p:nvPr>
        </p:nvSpPr>
        <p:spPr>
          <a:xfrm>
            <a:off x="481013" y="3752849"/>
            <a:ext cx="3290887" cy="2452687"/>
          </a:xfrm>
        </p:spPr>
        <p:txBody>
          <a:bodyPr vert="horz" lIns="91440" tIns="45720" rIns="91440" bIns="45720" rtlCol="0" anchor="ctr">
            <a:normAutofit/>
          </a:bodyPr>
          <a:lstStyle/>
          <a:p>
            <a:r>
              <a:rPr lang="en-US" sz="3600" dirty="0"/>
              <a:t>How was the attack carried out?</a:t>
            </a:r>
          </a:p>
        </p:txBody>
      </p:sp>
      <p:pic>
        <p:nvPicPr>
          <p:cNvPr id="5" name="Picture Placeholder 4" descr="A picture containing drawing&#10;&#10;Description automatically generated">
            <a:extLst>
              <a:ext uri="{FF2B5EF4-FFF2-40B4-BE49-F238E27FC236}">
                <a16:creationId xmlns:a16="http://schemas.microsoft.com/office/drawing/2014/main" id="{979A1D19-A4AC-4CC7-A80A-8349DDA5B297}"/>
              </a:ext>
            </a:extLst>
          </p:cNvPr>
          <p:cNvPicPr>
            <a:picLocks noGrp="1" noChangeAspect="1"/>
          </p:cNvPicPr>
          <p:nvPr>
            <p:ph type="pic" idx="1"/>
          </p:nvPr>
        </p:nvPicPr>
        <p:blipFill rotWithShape="1">
          <a:blip r:embed="rId4">
            <a:extLst>
              <a:ext uri="{28A0092B-C50C-407E-A947-70E740481C1C}">
                <a14:useLocalDpi xmlns:a14="http://schemas.microsoft.com/office/drawing/2010/main" val="0"/>
              </a:ext>
            </a:extLst>
          </a:blip>
          <a:srcRect t="19565" b="19565"/>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11" name="Text Placeholder 10">
            <a:extLst>
              <a:ext uri="{FF2B5EF4-FFF2-40B4-BE49-F238E27FC236}">
                <a16:creationId xmlns:a16="http://schemas.microsoft.com/office/drawing/2014/main" id="{EDB90C39-237D-4519-9C7C-B61D78D07F37}"/>
              </a:ext>
            </a:extLst>
          </p:cNvPr>
          <p:cNvSpPr>
            <a:spLocks noGrp="1"/>
          </p:cNvSpPr>
          <p:nvPr>
            <p:ph type="body" sz="half" idx="2"/>
          </p:nvPr>
        </p:nvSpPr>
        <p:spPr>
          <a:xfrm>
            <a:off x="4225574" y="3710613"/>
            <a:ext cx="7485413" cy="2689131"/>
          </a:xfrm>
        </p:spPr>
        <p:txBody>
          <a:bodyPr vert="horz" lIns="91440" tIns="45720" rIns="91440" bIns="45720" rtlCol="0" anchor="ctr">
            <a:normAutofit/>
          </a:bodyPr>
          <a:lstStyle/>
          <a:p>
            <a:pPr marL="285750" indent="-285750">
              <a:buFont typeface="Arial" panose="020B0604020202020204" pitchFamily="34" charset="0"/>
              <a:buChar char="•"/>
            </a:pPr>
            <a:r>
              <a:rPr lang="en-US" sz="1800" dirty="0"/>
              <a:t>The attack was introduced using USB devices due to the facility’s air gap, which prevented typical network infections (The Hacker News, 2011).</a:t>
            </a:r>
          </a:p>
          <a:p>
            <a:pPr marL="285750" indent="-285750">
              <a:buFont typeface="Arial" panose="020B0604020202020204" pitchFamily="34" charset="0"/>
              <a:buChar char="•"/>
            </a:pPr>
            <a:r>
              <a:rPr lang="en-US" sz="1800" dirty="0"/>
              <a:t>This meant that the attack had to be carried out by a person. Either willing to do it or doing it unknowingly.</a:t>
            </a:r>
          </a:p>
          <a:p>
            <a:pPr marL="285750" indent="-285750">
              <a:buFont typeface="Arial" panose="020B0604020202020204" pitchFamily="34" charset="0"/>
              <a:buChar char="•"/>
            </a:pPr>
            <a:r>
              <a:rPr lang="en-US" sz="1800" dirty="0"/>
              <a:t>Once inside, the Stuxnet worm infected the internal control network and used a man-in-the-middle attack to deceive monitoring systems (Hacker Noon, 2019).</a:t>
            </a:r>
          </a:p>
          <a:p>
            <a:pPr marL="285750" indent="-285750">
              <a:buFont typeface="Arial" panose="020B0604020202020204" pitchFamily="34" charset="0"/>
              <a:buChar char="•"/>
            </a:pPr>
            <a:r>
              <a:rPr lang="en-US" sz="1800" dirty="0"/>
              <a:t>It was never meant to spread to the internet but it did.</a:t>
            </a:r>
          </a:p>
        </p:txBody>
      </p:sp>
    </p:spTree>
    <p:extLst>
      <p:ext uri="{BB962C8B-B14F-4D97-AF65-F5344CB8AC3E}">
        <p14:creationId xmlns:p14="http://schemas.microsoft.com/office/powerpoint/2010/main" val="1274135057"/>
      </p:ext>
    </p:extLst>
  </p:cSld>
  <p:clrMapOvr>
    <a:masterClrMapping/>
  </p:clrMapOvr>
  <p:transition spd="slow">
    <p:wipe/>
    <p:sndAc>
      <p:stSnd>
        <p:snd r:embed="rId3" name="arrow.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1DE23F2-AC00-477C-8B90-7C509911E633}"/>
              </a:ext>
            </a:extLst>
          </p:cNvPr>
          <p:cNvSpPr>
            <a:spLocks noGrp="1"/>
          </p:cNvSpPr>
          <p:nvPr>
            <p:ph type="title"/>
          </p:nvPr>
        </p:nvSpPr>
        <p:spPr>
          <a:xfrm>
            <a:off x="481013" y="3752849"/>
            <a:ext cx="3290887" cy="2452687"/>
          </a:xfrm>
        </p:spPr>
        <p:txBody>
          <a:bodyPr vert="horz" lIns="91440" tIns="45720" rIns="91440" bIns="45720" rtlCol="0" anchor="ctr">
            <a:normAutofit/>
          </a:bodyPr>
          <a:lstStyle/>
          <a:p>
            <a:r>
              <a:rPr lang="en-US" sz="3600" dirty="0"/>
              <a:t>How was the attack carried out? –cont.</a:t>
            </a:r>
          </a:p>
        </p:txBody>
      </p:sp>
      <p:pic>
        <p:nvPicPr>
          <p:cNvPr id="5" name="Picture Placeholder 4" descr="A picture containing drawing&#10;&#10;Description automatically generated">
            <a:extLst>
              <a:ext uri="{FF2B5EF4-FFF2-40B4-BE49-F238E27FC236}">
                <a16:creationId xmlns:a16="http://schemas.microsoft.com/office/drawing/2014/main" id="{979A1D19-A4AC-4CC7-A80A-8349DDA5B297}"/>
              </a:ext>
            </a:extLst>
          </p:cNvPr>
          <p:cNvPicPr>
            <a:picLocks noGrp="1" noChangeAspect="1"/>
          </p:cNvPicPr>
          <p:nvPr>
            <p:ph type="pic" idx="1"/>
          </p:nvPr>
        </p:nvPicPr>
        <p:blipFill rotWithShape="1">
          <a:blip r:embed="rId4">
            <a:extLst>
              <a:ext uri="{28A0092B-C50C-407E-A947-70E740481C1C}">
                <a14:useLocalDpi xmlns:a14="http://schemas.microsoft.com/office/drawing/2010/main" val="0"/>
              </a:ext>
            </a:extLst>
          </a:blip>
          <a:srcRect t="19565" b="19565"/>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11" name="Text Placeholder 10">
            <a:extLst>
              <a:ext uri="{FF2B5EF4-FFF2-40B4-BE49-F238E27FC236}">
                <a16:creationId xmlns:a16="http://schemas.microsoft.com/office/drawing/2014/main" id="{EDB90C39-237D-4519-9C7C-B61D78D07F37}"/>
              </a:ext>
            </a:extLst>
          </p:cNvPr>
          <p:cNvSpPr>
            <a:spLocks noGrp="1"/>
          </p:cNvSpPr>
          <p:nvPr>
            <p:ph type="body" sz="half" idx="2"/>
          </p:nvPr>
        </p:nvSpPr>
        <p:spPr>
          <a:xfrm>
            <a:off x="4225574" y="3710613"/>
            <a:ext cx="7485413" cy="2689131"/>
          </a:xfrm>
        </p:spPr>
        <p:txBody>
          <a:bodyPr vert="horz" lIns="91440" tIns="45720" rIns="91440" bIns="45720" rtlCol="0" anchor="ctr">
            <a:noAutofit/>
          </a:bodyPr>
          <a:lstStyle/>
          <a:p>
            <a:pPr marL="285750" indent="-285750">
              <a:buFont typeface="Arial" panose="020B0604020202020204" pitchFamily="34" charset="0"/>
              <a:buChar char="•"/>
            </a:pPr>
            <a:r>
              <a:rPr lang="en-US" dirty="0"/>
              <a:t>After the Stuxnet worm successfully breached the air gap, the internal control network for the centrifuges became infected. </a:t>
            </a:r>
          </a:p>
          <a:p>
            <a:pPr marL="285750" indent="-285750">
              <a:buFont typeface="Arial" panose="020B0604020202020204" pitchFamily="34" charset="0"/>
              <a:buChar char="•"/>
            </a:pPr>
            <a:r>
              <a:rPr lang="en-US" dirty="0"/>
              <a:t>The Stuxnet used a man-in-the-middle style attack to trick the operation systems from realizing that there was a problem.  When the system tried to send the warning messages, the Stuxnet used a loop back capability to display false information thus avoiding detection.</a:t>
            </a:r>
          </a:p>
          <a:p>
            <a:pPr marL="285750" indent="-285750">
              <a:buFont typeface="Arial" panose="020B0604020202020204" pitchFamily="34" charset="0"/>
              <a:buChar char="•"/>
            </a:pPr>
            <a:r>
              <a:rPr lang="en-US" dirty="0"/>
              <a:t>Stuxnet manipulated the speed of the centrifuges, causing them to spin at dangerous rates before slowing down suddenly. This cycle of acceleration and deceleration caused stress fractures, leading to mechanical failures (Hacker Noon, 2019).</a:t>
            </a:r>
          </a:p>
          <a:p>
            <a:pPr marL="285750" indent="-285750">
              <a:buFont typeface="Arial" panose="020B0604020202020204" pitchFamily="34" charset="0"/>
              <a:buChar char="•"/>
            </a:pPr>
            <a:r>
              <a:rPr lang="en-US" dirty="0"/>
              <a:t>There was no way to diagnose why the centrifuges were breaking down.</a:t>
            </a:r>
          </a:p>
        </p:txBody>
      </p:sp>
    </p:spTree>
    <p:extLst>
      <p:ext uri="{BB962C8B-B14F-4D97-AF65-F5344CB8AC3E}">
        <p14:creationId xmlns:p14="http://schemas.microsoft.com/office/powerpoint/2010/main" val="2590950496"/>
      </p:ext>
    </p:extLst>
  </p:cSld>
  <p:clrMapOvr>
    <a:masterClrMapping/>
  </p:clrMapOvr>
  <p:transition spd="slow">
    <p:wipe/>
    <p:sndAc>
      <p:stSnd>
        <p:snd r:embed="rId3" name="arrow.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1DE23F2-AC00-477C-8B90-7C509911E633}"/>
              </a:ext>
            </a:extLst>
          </p:cNvPr>
          <p:cNvSpPr>
            <a:spLocks noGrp="1"/>
          </p:cNvSpPr>
          <p:nvPr>
            <p:ph type="title"/>
          </p:nvPr>
        </p:nvSpPr>
        <p:spPr>
          <a:xfrm>
            <a:off x="481013" y="3752849"/>
            <a:ext cx="3290887" cy="2452687"/>
          </a:xfrm>
        </p:spPr>
        <p:txBody>
          <a:bodyPr vert="horz" lIns="91440" tIns="45720" rIns="91440" bIns="45720" rtlCol="0" anchor="ctr">
            <a:normAutofit/>
          </a:bodyPr>
          <a:lstStyle/>
          <a:p>
            <a:r>
              <a:rPr lang="en-US" sz="3600" dirty="0"/>
              <a:t>Unintended Consequences.</a:t>
            </a:r>
          </a:p>
        </p:txBody>
      </p:sp>
      <p:pic>
        <p:nvPicPr>
          <p:cNvPr id="5" name="Picture Placeholder 4" descr="A picture containing drawing&#10;&#10;Description automatically generated">
            <a:extLst>
              <a:ext uri="{FF2B5EF4-FFF2-40B4-BE49-F238E27FC236}">
                <a16:creationId xmlns:a16="http://schemas.microsoft.com/office/drawing/2014/main" id="{979A1D19-A4AC-4CC7-A80A-8349DDA5B297}"/>
              </a:ext>
            </a:extLst>
          </p:cNvPr>
          <p:cNvPicPr>
            <a:picLocks noGrp="1" noChangeAspect="1"/>
          </p:cNvPicPr>
          <p:nvPr>
            <p:ph type="pic" idx="1"/>
          </p:nvPr>
        </p:nvPicPr>
        <p:blipFill rotWithShape="1">
          <a:blip r:embed="rId4">
            <a:extLst>
              <a:ext uri="{28A0092B-C50C-407E-A947-70E740481C1C}">
                <a14:useLocalDpi xmlns:a14="http://schemas.microsoft.com/office/drawing/2010/main" val="0"/>
              </a:ext>
            </a:extLst>
          </a:blip>
          <a:srcRect t="19565" b="19565"/>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11" name="Text Placeholder 10">
            <a:extLst>
              <a:ext uri="{FF2B5EF4-FFF2-40B4-BE49-F238E27FC236}">
                <a16:creationId xmlns:a16="http://schemas.microsoft.com/office/drawing/2014/main" id="{EDB90C39-237D-4519-9C7C-B61D78D07F37}"/>
              </a:ext>
            </a:extLst>
          </p:cNvPr>
          <p:cNvSpPr>
            <a:spLocks noGrp="1"/>
          </p:cNvSpPr>
          <p:nvPr>
            <p:ph type="body" sz="half" idx="2"/>
          </p:nvPr>
        </p:nvSpPr>
        <p:spPr>
          <a:xfrm>
            <a:off x="4225574" y="3710613"/>
            <a:ext cx="7485413" cy="2689131"/>
          </a:xfrm>
        </p:spPr>
        <p:txBody>
          <a:bodyPr vert="horz" lIns="91440" tIns="45720" rIns="91440" bIns="45720" rtlCol="0" anchor="ctr">
            <a:normAutofit lnSpcReduction="10000"/>
          </a:bodyPr>
          <a:lstStyle/>
          <a:p>
            <a:pPr marL="285750" indent="-285750">
              <a:buFont typeface="Arial" panose="020B0604020202020204" pitchFamily="34" charset="0"/>
              <a:buChar char="•"/>
            </a:pPr>
            <a:r>
              <a:rPr lang="en-US" sz="1800" dirty="0"/>
              <a:t>Stuxnet eventually spread beyond its intended target. It is believed that an infected USB or laptop left the facility, unintentionally releasing the worm into the wild (Wired, 2011).</a:t>
            </a:r>
          </a:p>
          <a:p>
            <a:pPr marL="285750" indent="-285750">
              <a:buFont typeface="Arial" panose="020B0604020202020204" pitchFamily="34" charset="0"/>
              <a:buChar char="•"/>
            </a:pPr>
            <a:r>
              <a:rPr lang="en-US" sz="1800" dirty="0"/>
              <a:t>It is speculated that this occurred the same way the original attack did. There was an infected laptop or USB device that left the facility and connected to an outside network somewhere else. </a:t>
            </a:r>
          </a:p>
          <a:p>
            <a:pPr marL="285750" indent="-285750">
              <a:buFont typeface="Arial" panose="020B0604020202020204" pitchFamily="34" charset="0"/>
              <a:buChar char="•"/>
            </a:pPr>
            <a:r>
              <a:rPr lang="en-US" sz="1800" dirty="0"/>
              <a:t>Affected countries include, Iran, Indonesia, India, Azerbaijan, United States, Pakistan and more. </a:t>
            </a:r>
          </a:p>
          <a:p>
            <a:pPr marL="285750" indent="-285750">
              <a:buFont typeface="Arial" panose="020B0604020202020204" pitchFamily="34" charset="0"/>
              <a:buChar char="•"/>
            </a:pPr>
            <a:r>
              <a:rPr lang="en-US" sz="1800" dirty="0"/>
              <a:t>More advanced Malware was created in the aftermath after Stuxnet was studied in-depth.</a:t>
            </a:r>
          </a:p>
        </p:txBody>
      </p:sp>
    </p:spTree>
    <p:extLst>
      <p:ext uri="{BB962C8B-B14F-4D97-AF65-F5344CB8AC3E}">
        <p14:creationId xmlns:p14="http://schemas.microsoft.com/office/powerpoint/2010/main" val="2418853280"/>
      </p:ext>
    </p:extLst>
  </p:cSld>
  <p:clrMapOvr>
    <a:masterClrMapping/>
  </p:clrMapOvr>
  <p:transition spd="slow">
    <p:wipe/>
    <p:sndAc>
      <p:stSnd>
        <p:snd r:embed="rId3" name="arrow.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1DE23F2-AC00-477C-8B90-7C509911E633}"/>
              </a:ext>
            </a:extLst>
          </p:cNvPr>
          <p:cNvSpPr>
            <a:spLocks noGrp="1"/>
          </p:cNvSpPr>
          <p:nvPr>
            <p:ph type="title"/>
          </p:nvPr>
        </p:nvSpPr>
        <p:spPr>
          <a:xfrm>
            <a:off x="481013" y="3752849"/>
            <a:ext cx="3290887" cy="2452687"/>
          </a:xfrm>
        </p:spPr>
        <p:txBody>
          <a:bodyPr vert="horz" lIns="91440" tIns="45720" rIns="91440" bIns="45720" rtlCol="0" anchor="ctr">
            <a:normAutofit/>
          </a:bodyPr>
          <a:lstStyle/>
          <a:p>
            <a:r>
              <a:rPr lang="en-US" sz="3600" dirty="0"/>
              <a:t>Further actions taken and reactions to Stuxnet</a:t>
            </a:r>
          </a:p>
        </p:txBody>
      </p:sp>
      <p:pic>
        <p:nvPicPr>
          <p:cNvPr id="5" name="Picture Placeholder 4" descr="A picture containing drawing&#10;&#10;Description automatically generated">
            <a:extLst>
              <a:ext uri="{FF2B5EF4-FFF2-40B4-BE49-F238E27FC236}">
                <a16:creationId xmlns:a16="http://schemas.microsoft.com/office/drawing/2014/main" id="{979A1D19-A4AC-4CC7-A80A-8349DDA5B297}"/>
              </a:ext>
            </a:extLst>
          </p:cNvPr>
          <p:cNvPicPr>
            <a:picLocks noGrp="1" noChangeAspect="1"/>
          </p:cNvPicPr>
          <p:nvPr>
            <p:ph type="pic" idx="1"/>
          </p:nvPr>
        </p:nvPicPr>
        <p:blipFill rotWithShape="1">
          <a:blip r:embed="rId4">
            <a:extLst>
              <a:ext uri="{28A0092B-C50C-407E-A947-70E740481C1C}">
                <a14:useLocalDpi xmlns:a14="http://schemas.microsoft.com/office/drawing/2010/main" val="0"/>
              </a:ext>
            </a:extLst>
          </a:blip>
          <a:srcRect t="19565" b="19565"/>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11" name="Text Placeholder 10">
            <a:extLst>
              <a:ext uri="{FF2B5EF4-FFF2-40B4-BE49-F238E27FC236}">
                <a16:creationId xmlns:a16="http://schemas.microsoft.com/office/drawing/2014/main" id="{EDB90C39-237D-4519-9C7C-B61D78D07F37}"/>
              </a:ext>
            </a:extLst>
          </p:cNvPr>
          <p:cNvSpPr>
            <a:spLocks noGrp="1"/>
          </p:cNvSpPr>
          <p:nvPr>
            <p:ph type="body" sz="half" idx="2"/>
          </p:nvPr>
        </p:nvSpPr>
        <p:spPr>
          <a:xfrm>
            <a:off x="4225574" y="3710613"/>
            <a:ext cx="7485413" cy="2689131"/>
          </a:xfrm>
        </p:spPr>
        <p:txBody>
          <a:bodyPr vert="horz" lIns="91440" tIns="45720" rIns="91440" bIns="45720" rtlCol="0" anchor="ctr">
            <a:normAutofit/>
          </a:bodyPr>
          <a:lstStyle/>
          <a:p>
            <a:pPr marL="285750" indent="-285750">
              <a:buFont typeface="Arial" panose="020B0604020202020204" pitchFamily="34" charset="0"/>
              <a:buChar char="•"/>
            </a:pPr>
            <a:r>
              <a:rPr lang="en-US" sz="1800" dirty="0"/>
              <a:t>Iran publicly condemned the attack as an act of cyber warfare and intensified its focus on cybersecurity, establishing a dedicated team to prevent future incidents (</a:t>
            </a:r>
            <a:r>
              <a:rPr lang="en-US" sz="1800" dirty="0" err="1"/>
              <a:t>Cryptome</a:t>
            </a:r>
            <a:r>
              <a:rPr lang="en-US" sz="1800" dirty="0"/>
              <a:t>, 2010).</a:t>
            </a:r>
          </a:p>
          <a:p>
            <a:pPr marL="285750" indent="-285750">
              <a:buFont typeface="Arial" panose="020B0604020202020204" pitchFamily="34" charset="0"/>
              <a:buChar char="•"/>
            </a:pPr>
            <a:r>
              <a:rPr lang="en-US" sz="1800" dirty="0"/>
              <a:t>Iran had since then built a team of cyber security experts tasked with training and preventing future attacks. Possibly even being able to launch attacks in the future. </a:t>
            </a:r>
          </a:p>
        </p:txBody>
      </p:sp>
    </p:spTree>
    <p:extLst>
      <p:ext uri="{BB962C8B-B14F-4D97-AF65-F5344CB8AC3E}">
        <p14:creationId xmlns:p14="http://schemas.microsoft.com/office/powerpoint/2010/main" val="1795768078"/>
      </p:ext>
    </p:extLst>
  </p:cSld>
  <p:clrMapOvr>
    <a:masterClrMapping/>
  </p:clrMapOvr>
  <p:transition spd="slow">
    <p:wipe/>
    <p:sndAc>
      <p:stSnd>
        <p:snd r:embed="rId3" name="arrow.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1DE23F2-AC00-477C-8B90-7C509911E633}"/>
              </a:ext>
            </a:extLst>
          </p:cNvPr>
          <p:cNvSpPr>
            <a:spLocks noGrp="1"/>
          </p:cNvSpPr>
          <p:nvPr>
            <p:ph type="title"/>
          </p:nvPr>
        </p:nvSpPr>
        <p:spPr>
          <a:xfrm>
            <a:off x="481013" y="3752849"/>
            <a:ext cx="3290887" cy="2452687"/>
          </a:xfrm>
        </p:spPr>
        <p:txBody>
          <a:bodyPr vert="horz" lIns="91440" tIns="45720" rIns="91440" bIns="45720" rtlCol="0" anchor="ctr">
            <a:normAutofit/>
          </a:bodyPr>
          <a:lstStyle/>
          <a:p>
            <a:r>
              <a:rPr lang="en-US" sz="3600" dirty="0"/>
              <a:t>Conclusion.</a:t>
            </a:r>
          </a:p>
        </p:txBody>
      </p:sp>
      <p:pic>
        <p:nvPicPr>
          <p:cNvPr id="5" name="Picture Placeholder 4" descr="A picture containing drawing&#10;&#10;Description automatically generated">
            <a:extLst>
              <a:ext uri="{FF2B5EF4-FFF2-40B4-BE49-F238E27FC236}">
                <a16:creationId xmlns:a16="http://schemas.microsoft.com/office/drawing/2014/main" id="{979A1D19-A4AC-4CC7-A80A-8349DDA5B297}"/>
              </a:ext>
            </a:extLst>
          </p:cNvPr>
          <p:cNvPicPr>
            <a:picLocks noGrp="1" noChangeAspect="1"/>
          </p:cNvPicPr>
          <p:nvPr>
            <p:ph type="pic" idx="1"/>
          </p:nvPr>
        </p:nvPicPr>
        <p:blipFill rotWithShape="1">
          <a:blip r:embed="rId4">
            <a:extLst>
              <a:ext uri="{28A0092B-C50C-407E-A947-70E740481C1C}">
                <a14:useLocalDpi xmlns:a14="http://schemas.microsoft.com/office/drawing/2010/main" val="0"/>
              </a:ext>
            </a:extLst>
          </a:blip>
          <a:srcRect t="19565" b="19565"/>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11" name="Text Placeholder 10">
            <a:extLst>
              <a:ext uri="{FF2B5EF4-FFF2-40B4-BE49-F238E27FC236}">
                <a16:creationId xmlns:a16="http://schemas.microsoft.com/office/drawing/2014/main" id="{EDB90C39-237D-4519-9C7C-B61D78D07F37}"/>
              </a:ext>
            </a:extLst>
          </p:cNvPr>
          <p:cNvSpPr>
            <a:spLocks noGrp="1"/>
          </p:cNvSpPr>
          <p:nvPr>
            <p:ph type="body" sz="half" idx="2"/>
          </p:nvPr>
        </p:nvSpPr>
        <p:spPr>
          <a:xfrm>
            <a:off x="4225574" y="3710613"/>
            <a:ext cx="7485413" cy="2689131"/>
          </a:xfrm>
        </p:spPr>
        <p:txBody>
          <a:bodyPr vert="horz" lIns="91440" tIns="45720" rIns="91440" bIns="45720" rtlCol="0" anchor="ctr">
            <a:normAutofit lnSpcReduction="10000"/>
          </a:bodyPr>
          <a:lstStyle/>
          <a:p>
            <a:pPr marL="285750" indent="-285750">
              <a:buFont typeface="Arial" panose="020B0604020202020204" pitchFamily="34" charset="0"/>
              <a:buChar char="•"/>
            </a:pPr>
            <a:r>
              <a:rPr lang="en-US" sz="1800" dirty="0"/>
              <a:t>Stuxnet is easily one of the most powerful cyber attacks to date. It was designed by some of the most knowledgeable programming experts in the world. The planning and execution that went into this operation is shrouded in so much secrecy, the world may never know who had a hand in it. </a:t>
            </a:r>
          </a:p>
          <a:p>
            <a:pPr marL="285750" indent="-285750">
              <a:buFont typeface="Arial" panose="020B0604020202020204" pitchFamily="34" charset="0"/>
              <a:buChar char="•"/>
            </a:pPr>
            <a:r>
              <a:rPr lang="en-US" sz="1800" dirty="0"/>
              <a:t>Even though the worm has been heavily scrutinized by experts across the world now, they still don’t know who made it. That is the most important piece of the puzzle. This kind of cyber attack could be weaponized again, against other targets if necessary, so long as the same kind of people are working on the operation. This operation highlights just how important the future of Cyber Security really is. </a:t>
            </a:r>
          </a:p>
        </p:txBody>
      </p:sp>
    </p:spTree>
    <p:extLst>
      <p:ext uri="{BB962C8B-B14F-4D97-AF65-F5344CB8AC3E}">
        <p14:creationId xmlns:p14="http://schemas.microsoft.com/office/powerpoint/2010/main" val="2428468149"/>
      </p:ext>
    </p:extLst>
  </p:cSld>
  <p:clrMapOvr>
    <a:masterClrMapping/>
  </p:clrMapOvr>
  <p:transition spd="slow">
    <p:wipe/>
    <p:sndAc>
      <p:stSnd>
        <p:snd r:embed="rId3" name="arrow.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46BE4FD-72A1-4A07-BACA-77B50FF5E976}"/>
              </a:ext>
            </a:extLst>
          </p:cNvPr>
          <p:cNvSpPr>
            <a:spLocks noGrp="1"/>
          </p:cNvSpPr>
          <p:nvPr>
            <p:ph type="title"/>
          </p:nvPr>
        </p:nvSpPr>
        <p:spPr>
          <a:xfrm>
            <a:off x="838200" y="0"/>
            <a:ext cx="10515600" cy="825579"/>
          </a:xfrm>
        </p:spPr>
        <p:txBody>
          <a:bodyPr/>
          <a:lstStyle/>
          <a:p>
            <a:pPr algn="ctr"/>
            <a:r>
              <a:rPr lang="en-US" dirty="0"/>
              <a:t>Works Cited</a:t>
            </a:r>
          </a:p>
        </p:txBody>
      </p:sp>
      <p:sp>
        <p:nvSpPr>
          <p:cNvPr id="7" name="TextBox 6">
            <a:extLst>
              <a:ext uri="{FF2B5EF4-FFF2-40B4-BE49-F238E27FC236}">
                <a16:creationId xmlns:a16="http://schemas.microsoft.com/office/drawing/2014/main" id="{4F39DD47-8111-438C-910C-533BF4466D55}"/>
              </a:ext>
            </a:extLst>
          </p:cNvPr>
          <p:cNvSpPr txBox="1"/>
          <p:nvPr/>
        </p:nvSpPr>
        <p:spPr>
          <a:xfrm>
            <a:off x="0" y="717294"/>
            <a:ext cx="12019630" cy="6401753"/>
          </a:xfrm>
          <a:prstGeom prst="rect">
            <a:avLst/>
          </a:prstGeom>
          <a:noFill/>
        </p:spPr>
        <p:txBody>
          <a:bodyPr wrap="square" rtlCol="0">
            <a:spAutoFit/>
          </a:bodyPr>
          <a:lstStyle/>
          <a:p>
            <a:r>
              <a:rPr lang="en-US" sz="1400" dirty="0" err="1"/>
              <a:t>Cryptome</a:t>
            </a:r>
            <a:r>
              <a:rPr lang="en-US" sz="1400" dirty="0"/>
              <a:t>. (2010). </a:t>
            </a:r>
            <a:r>
              <a:rPr lang="en-US" sz="1400" i="1" dirty="0"/>
              <a:t>Natanz uranium enrichment complex, Iran, 2002–2010</a:t>
            </a:r>
            <a:r>
              <a:rPr lang="en-US" sz="1400" dirty="0"/>
              <a:t>. </a:t>
            </a:r>
          </a:p>
          <a:p>
            <a:r>
              <a:rPr lang="en-US" sz="1400" dirty="0">
                <a:hlinkClick r:id="rId3"/>
              </a:rPr>
              <a:t>http://cryptome.org/eyeball/natanz/natanz.html</a:t>
            </a:r>
            <a:endParaRPr lang="en-US" sz="1400" dirty="0"/>
          </a:p>
          <a:p>
            <a:endParaRPr lang="en-US" sz="1400" dirty="0"/>
          </a:p>
          <a:p>
            <a:r>
              <a:rPr lang="en-US" sz="1400" dirty="0"/>
              <a:t>FAS. (ca. 2005). </a:t>
            </a:r>
            <a:r>
              <a:rPr lang="en-US" sz="1400" i="1" dirty="0"/>
              <a:t>Bushehr nuclear power plant</a:t>
            </a:r>
            <a:r>
              <a:rPr lang="en-US" sz="1400" dirty="0"/>
              <a:t>. Federation of American Scientists. </a:t>
            </a:r>
          </a:p>
          <a:p>
            <a:r>
              <a:rPr lang="en-US" sz="1400" dirty="0">
                <a:hlinkClick r:id="rId4"/>
              </a:rPr>
              <a:t>https://nuke.fas.org/guide/iran/facility/siemens_pwr_bilbis_a.jpg</a:t>
            </a:r>
            <a:endParaRPr lang="en-US" sz="1400" dirty="0"/>
          </a:p>
          <a:p>
            <a:endParaRPr lang="en-US" sz="1400" dirty="0"/>
          </a:p>
          <a:p>
            <a:r>
              <a:rPr lang="en-US" sz="1400" dirty="0"/>
              <a:t>Hacker Noon. (2019, July 31). </a:t>
            </a:r>
            <a:r>
              <a:rPr lang="en-US" sz="1400" i="1" dirty="0"/>
              <a:t>Stuxnet, or how to destroy a centrifuge with a small piece of code</a:t>
            </a:r>
            <a:r>
              <a:rPr lang="en-US" sz="1400" dirty="0"/>
              <a:t>. </a:t>
            </a:r>
          </a:p>
          <a:p>
            <a:r>
              <a:rPr lang="en-US" sz="1400" dirty="0">
                <a:hlinkClick r:id="rId5"/>
              </a:rPr>
              <a:t>https://hackernoon.com/stuxnet-or-how-to-destroy-a-centrifuge-with-a-small-piece-of-code-66se283f</a:t>
            </a:r>
            <a:endParaRPr lang="en-US" sz="1400" dirty="0"/>
          </a:p>
          <a:p>
            <a:endParaRPr lang="en-US" sz="1400" dirty="0"/>
          </a:p>
          <a:p>
            <a:r>
              <a:rPr lang="en-US" sz="1400" dirty="0"/>
              <a:t>The Hacker News. (2011, July 19). </a:t>
            </a:r>
            <a:r>
              <a:rPr lang="en-US" sz="1400" i="1" dirty="0"/>
              <a:t>Stuxnet source code released online - download now</a:t>
            </a:r>
            <a:r>
              <a:rPr lang="en-US" sz="1400" dirty="0"/>
              <a:t>. </a:t>
            </a:r>
          </a:p>
          <a:p>
            <a:r>
              <a:rPr lang="en-US" sz="1400" dirty="0">
                <a:hlinkClick r:id="rId6"/>
              </a:rPr>
              <a:t>https://thehackernews.com/2011/07/stuxnet-source-code-released-online.html</a:t>
            </a:r>
            <a:endParaRPr lang="en-US" sz="1400" dirty="0"/>
          </a:p>
          <a:p>
            <a:endParaRPr lang="en-US" sz="1400" dirty="0"/>
          </a:p>
          <a:p>
            <a:r>
              <a:rPr lang="en-US" sz="1400" dirty="0"/>
              <a:t>IEEE Spectrum. (2015, February 26). </a:t>
            </a:r>
            <a:r>
              <a:rPr lang="en-US" sz="1400" i="1" dirty="0"/>
              <a:t>The real story of Stuxnet</a:t>
            </a:r>
            <a:r>
              <a:rPr lang="en-US" sz="1400" dirty="0"/>
              <a:t>.</a:t>
            </a:r>
          </a:p>
          <a:p>
            <a:r>
              <a:rPr lang="en-US" sz="1400" dirty="0"/>
              <a:t> </a:t>
            </a:r>
            <a:r>
              <a:rPr lang="en-US" sz="1400" dirty="0">
                <a:hlinkClick r:id="rId7"/>
              </a:rPr>
              <a:t>https://spectrum.ieee.org/the-real-story-of-stuxnet</a:t>
            </a:r>
            <a:endParaRPr lang="en-US" sz="1400" dirty="0"/>
          </a:p>
          <a:p>
            <a:endParaRPr lang="en-US" sz="1400" dirty="0"/>
          </a:p>
          <a:p>
            <a:r>
              <a:rPr lang="en-US" sz="1400" dirty="0"/>
              <a:t>Iran Watch. (2002, September). </a:t>
            </a:r>
            <a:r>
              <a:rPr lang="en-US" sz="1400" i="1" dirty="0"/>
              <a:t>Natanz enrichment facility 2</a:t>
            </a:r>
            <a:r>
              <a:rPr lang="en-US" sz="1400" dirty="0"/>
              <a:t>. </a:t>
            </a:r>
          </a:p>
          <a:p>
            <a:r>
              <a:rPr lang="en-US" sz="1400" dirty="0">
                <a:hlinkClick r:id="rId8"/>
              </a:rPr>
              <a:t>https://www.iranwatch.org/sites/default/files/Natanz-092002.jpg</a:t>
            </a:r>
            <a:endParaRPr lang="en-US" sz="1400" dirty="0"/>
          </a:p>
          <a:p>
            <a:endParaRPr lang="en-US" sz="1400" dirty="0"/>
          </a:p>
          <a:p>
            <a:r>
              <a:rPr lang="en-US" sz="1400" dirty="0"/>
              <a:t>Reuters. (2021, October 25). </a:t>
            </a:r>
            <a:r>
              <a:rPr lang="en-US" sz="1400" i="1" dirty="0"/>
              <a:t>Iran feeds highly enriched uranium into more machines at Natanz, IAEA says</a:t>
            </a:r>
            <a:r>
              <a:rPr lang="en-US" sz="1400" dirty="0"/>
              <a:t>. </a:t>
            </a:r>
          </a:p>
          <a:p>
            <a:r>
              <a:rPr lang="en-US" sz="1400" dirty="0">
                <a:hlinkClick r:id="rId9"/>
              </a:rPr>
              <a:t>https://www.reuters.com/world/middle-east/iran-feeds-highly-enriched-uranium-into-more-machines-natanz-iaea-2021-10-25</a:t>
            </a:r>
            <a:endParaRPr lang="en-US" sz="1400" dirty="0"/>
          </a:p>
          <a:p>
            <a:endParaRPr lang="en-US" sz="1400" dirty="0"/>
          </a:p>
          <a:p>
            <a:r>
              <a:rPr lang="en-US" sz="1400" dirty="0"/>
              <a:t>Wikipedia. (2020, April 3). </a:t>
            </a:r>
            <a:r>
              <a:rPr lang="en-US" sz="1400" i="1" dirty="0"/>
              <a:t>Natanz</a:t>
            </a:r>
            <a:r>
              <a:rPr lang="en-US" sz="1400" dirty="0"/>
              <a:t>. Wikimedia Foundation. </a:t>
            </a:r>
          </a:p>
          <a:p>
            <a:r>
              <a:rPr lang="en-US" sz="1400" dirty="0">
                <a:hlinkClick r:id="rId10"/>
              </a:rPr>
              <a:t>https://en.wikipedia.org/wiki/Natanz</a:t>
            </a:r>
            <a:endParaRPr lang="en-US" sz="1400" dirty="0"/>
          </a:p>
          <a:p>
            <a:endParaRPr lang="en-US" sz="1400" dirty="0"/>
          </a:p>
          <a:p>
            <a:r>
              <a:rPr lang="en-US" sz="1400" dirty="0"/>
              <a:t>Wired. (2011, February 11). </a:t>
            </a:r>
            <a:r>
              <a:rPr lang="en-US" sz="1400" i="1" dirty="0"/>
              <a:t>Stuxnet: Five main targets</a:t>
            </a:r>
            <a:r>
              <a:rPr lang="en-US" sz="1400" dirty="0"/>
              <a:t>. </a:t>
            </a:r>
          </a:p>
          <a:p>
            <a:r>
              <a:rPr lang="en-US" sz="1400" dirty="0">
                <a:hlinkClick r:id="rId11"/>
              </a:rPr>
              <a:t>https://www.wired.com/2011/02/stuxnet-five-main-target/</a:t>
            </a:r>
            <a:endParaRPr lang="en-US" sz="1400" dirty="0"/>
          </a:p>
          <a:p>
            <a:endParaRPr lang="en-US" sz="1400" dirty="0"/>
          </a:p>
          <a:p>
            <a:r>
              <a:rPr lang="en-US" sz="1400" dirty="0" err="1"/>
              <a:t>Zetter</a:t>
            </a:r>
            <a:r>
              <a:rPr lang="en-US" sz="1400" dirty="0"/>
              <a:t>, K. (2015). </a:t>
            </a:r>
            <a:r>
              <a:rPr lang="en-US" sz="1400" i="1" dirty="0"/>
              <a:t>Countdown to Zero Day: Stuxnet and the launch of the world’s first digital weapon</a:t>
            </a:r>
            <a:r>
              <a:rPr lang="en-US" sz="1400" dirty="0"/>
              <a:t>. Broadway Books.</a:t>
            </a:r>
          </a:p>
          <a:p>
            <a:endParaRPr lang="en-US" dirty="0"/>
          </a:p>
        </p:txBody>
      </p:sp>
    </p:spTree>
    <p:extLst>
      <p:ext uri="{BB962C8B-B14F-4D97-AF65-F5344CB8AC3E}">
        <p14:creationId xmlns:p14="http://schemas.microsoft.com/office/powerpoint/2010/main" val="2271247917"/>
      </p:ext>
    </p:extLst>
  </p:cSld>
  <p:clrMapOvr>
    <a:masterClrMapping/>
  </p:clrMapOvr>
  <p:transition spd="slow">
    <p:wipe/>
    <p:sndAc>
      <p:stSnd>
        <p:snd r:embed="rId2" name="arrow.wav"/>
      </p:stSnd>
    </p:sndAc>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415</TotalTime>
  <Words>2251</Words>
  <Application>Microsoft Office PowerPoint</Application>
  <PresentationFormat>Widescreen</PresentationFormat>
  <Paragraphs>131</Paragraphs>
  <Slides>14</Slides>
  <Notes>13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Aptos</vt:lpstr>
      <vt:lpstr>Arial</vt:lpstr>
      <vt:lpstr>Calibri</vt:lpstr>
      <vt:lpstr>Calibri Light</vt:lpstr>
      <vt:lpstr>Office Theme</vt:lpstr>
      <vt:lpstr>Custom Design</vt:lpstr>
      <vt:lpstr>Stuxnet Worm Attack</vt:lpstr>
      <vt:lpstr>What happened?</vt:lpstr>
      <vt:lpstr>Where did the attack take place?</vt:lpstr>
      <vt:lpstr>What is the Stuxnet Worm?</vt:lpstr>
      <vt:lpstr>How does it work?</vt:lpstr>
      <vt:lpstr>Who was involved?</vt:lpstr>
      <vt:lpstr>Why was this attack developed and carried out?</vt:lpstr>
      <vt:lpstr>When did this attack occur?</vt:lpstr>
      <vt:lpstr>How was the attack carried out?</vt:lpstr>
      <vt:lpstr>How was the attack carried out? –cont.</vt:lpstr>
      <vt:lpstr>Unintended Consequences.</vt:lpstr>
      <vt:lpstr>Further actions taken and reactions to Stuxnet</vt:lpstr>
      <vt:lpstr>Conclusion.</vt:lpstr>
      <vt:lpstr>Works Cited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Timmy A. Jenkins</dc:creator>
  <cp:lastModifiedBy>Timmy A. Jenkins</cp:lastModifiedBy>
  <cp:revision>8</cp:revision>
  <dcterms:created xsi:type="dcterms:W3CDTF">2025-02-23T19:42:13Z</dcterms:created>
  <dcterms:modified xsi:type="dcterms:W3CDTF">2025-02-24T02:37:16Z</dcterms:modified>
</cp:coreProperties>
</file>